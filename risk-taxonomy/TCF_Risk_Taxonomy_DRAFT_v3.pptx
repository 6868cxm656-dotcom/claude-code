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5"/>
    <p:sldId id="257" r:id="rId6"/>
    <p:sldId id="25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60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DA291C"/>
          </a:solidFill>
          <a:ln/>
        </p:spPr>
        <p:txBody>
          <a:bodyPr/>
          <a:lstStyle/>
          <a:p>
            <a:endParaRPr lang="en-GB"/>
          </a:p>
        </p:txBody>
      </p:sp>
      <p:sp>
        <p:nvSpPr>
          <p:cNvPr id="3" name="Text 1"/>
          <p:cNvSpPr/>
          <p:nvPr/>
        </p:nvSpPr>
        <p:spPr>
          <a:xfrm>
            <a:off x="411480" y="0"/>
            <a:ext cx="9326880" cy="566928"/>
          </a:xfrm>
          <a:prstGeom prst="rect">
            <a:avLst/>
          </a:prstGeom>
          <a:noFill/>
          <a:ln/>
        </p:spPr>
        <p:txBody>
          <a:bodyPr wrap="square" lIns="0" tIns="0" rIns="0" bIns="0" rtlCol="0" anchor="ctr"/>
          <a:lstStyle/>
          <a:p>
            <a:pPr marL="0" indent="0">
              <a:buNone/>
            </a:pPr>
            <a:r>
              <a:rPr lang="en-US" sz="1700" dirty="0">
                <a:solidFill>
                  <a:srgbClr val="FFFFFF"/>
                </a:solidFill>
                <a:latin typeface="Arial Black" pitchFamily="34" charset="0"/>
                <a:ea typeface="Arial Black" pitchFamily="34" charset="-122"/>
                <a:cs typeface="Arial Black" pitchFamily="34" charset="-120"/>
              </a:rPr>
              <a:t>TCF Risk Taxonomy: what we're trying to do</a:t>
            </a:r>
            <a:endParaRPr lang="en-US" sz="1700" dirty="0"/>
          </a:p>
        </p:txBody>
      </p:sp>
      <p:sp>
        <p:nvSpPr>
          <p:cNvPr id="4" name="Text 2"/>
          <p:cNvSpPr/>
          <p:nvPr/>
        </p:nvSpPr>
        <p:spPr>
          <a:xfrm>
            <a:off x="9692640" y="0"/>
            <a:ext cx="2103120" cy="566928"/>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DRAFT v3 | For SLT discussion</a:t>
            </a:r>
            <a:endParaRPr lang="en-US" sz="1000" dirty="0"/>
          </a:p>
        </p:txBody>
      </p:sp>
      <p:sp>
        <p:nvSpPr>
          <p:cNvPr id="5" name="Text 3"/>
          <p:cNvSpPr/>
          <p:nvPr/>
        </p:nvSpPr>
        <p:spPr>
          <a:xfrm>
            <a:off x="411480" y="749808"/>
            <a:ext cx="11338560" cy="411480"/>
          </a:xfrm>
          <a:prstGeom prst="rect">
            <a:avLst/>
          </a:prstGeom>
          <a:noFill/>
          <a:ln/>
        </p:spPr>
        <p:txBody>
          <a:bodyPr wrap="square" lIns="0" tIns="0" rIns="0" bIns="0" rtlCol="0" anchor="ctr"/>
          <a:lstStyle/>
          <a:p>
            <a:pPr marL="0" indent="0">
              <a:buNone/>
            </a:pPr>
            <a:r>
              <a:rPr lang="en-US" sz="1400" i="1" dirty="0">
                <a:solidFill>
                  <a:srgbClr val="232323"/>
                </a:solidFill>
                <a:latin typeface="Georgia" pitchFamily="34" charset="0"/>
                <a:ea typeface="Georgia" pitchFamily="34" charset="-122"/>
                <a:cs typeface="Georgia" pitchFamily="34" charset="-120"/>
              </a:rPr>
              <a:t>One shared map of TCF's risks, with a named SLT owner for every area, so we manage risk deliberately instead of reactively. This will enable us to better communicate with the team and the Board about risk, and will be a prelude to an overhaul of our risk register this autumn.</a:t>
            </a:r>
            <a:endParaRPr lang="en-US" sz="1400" dirty="0"/>
          </a:p>
        </p:txBody>
      </p:sp>
      <p:sp>
        <p:nvSpPr>
          <p:cNvPr id="6" name="Shape 4"/>
          <p:cNvSpPr/>
          <p:nvPr/>
        </p:nvSpPr>
        <p:spPr>
          <a:xfrm>
            <a:off x="411480" y="1298448"/>
            <a:ext cx="5532120" cy="1024128"/>
          </a:xfrm>
          <a:prstGeom prst="rect">
            <a:avLst/>
          </a:prstGeom>
          <a:solidFill>
            <a:srgbClr val="F7F5F2"/>
          </a:solidFill>
          <a:ln/>
        </p:spPr>
        <p:txBody>
          <a:bodyPr/>
          <a:lstStyle/>
          <a:p>
            <a:endParaRPr lang="en-GB"/>
          </a:p>
        </p:txBody>
      </p:sp>
      <p:sp>
        <p:nvSpPr>
          <p:cNvPr id="7" name="Shape 5"/>
          <p:cNvSpPr/>
          <p:nvPr/>
        </p:nvSpPr>
        <p:spPr>
          <a:xfrm>
            <a:off x="411480" y="1298448"/>
            <a:ext cx="54864" cy="1024128"/>
          </a:xfrm>
          <a:prstGeom prst="rect">
            <a:avLst/>
          </a:prstGeom>
          <a:solidFill>
            <a:srgbClr val="DA291C"/>
          </a:solidFill>
          <a:ln/>
        </p:spPr>
        <p:txBody>
          <a:bodyPr/>
          <a:lstStyle/>
          <a:p>
            <a:endParaRPr lang="en-GB"/>
          </a:p>
        </p:txBody>
      </p:sp>
      <p:sp>
        <p:nvSpPr>
          <p:cNvPr id="8" name="Text 6"/>
          <p:cNvSpPr/>
          <p:nvPr/>
        </p:nvSpPr>
        <p:spPr>
          <a:xfrm>
            <a:off x="594360" y="1353312"/>
            <a:ext cx="5212080" cy="914400"/>
          </a:xfrm>
          <a:prstGeom prst="rect">
            <a:avLst/>
          </a:prstGeom>
          <a:noFill/>
          <a:ln/>
        </p:spPr>
        <p:txBody>
          <a:bodyPr wrap="square" lIns="0" tIns="0" rIns="0" bIns="0" rtlCol="0" anchor="ctr"/>
          <a:lstStyle/>
          <a:p>
            <a:pPr marL="0" indent="0">
              <a:spcAft>
                <a:spcPts val="300"/>
              </a:spcAft>
              <a:buNone/>
            </a:pPr>
            <a:r>
              <a:rPr lang="en-US" sz="1250" b="1" dirty="0">
                <a:solidFill>
                  <a:srgbClr val="A81B12"/>
                </a:solidFill>
                <a:latin typeface="Arial" pitchFamily="34" charset="0"/>
                <a:ea typeface="Arial" pitchFamily="34" charset="-122"/>
                <a:cs typeface="Arial" pitchFamily="34" charset="-120"/>
              </a:rPr>
              <a:t>A common language</a:t>
            </a:r>
            <a:endParaRPr lang="en-US" sz="1250" dirty="0"/>
          </a:p>
          <a:p>
            <a:pPr marL="0" indent="0">
              <a:spcAft>
                <a:spcPts val="300"/>
              </a:spcAft>
              <a:buNone/>
            </a:pPr>
            <a:r>
              <a:rPr lang="en-US" sz="1050" dirty="0">
                <a:solidFill>
                  <a:srgbClr val="232323"/>
                </a:solidFill>
                <a:latin typeface="Arial" pitchFamily="34" charset="0"/>
                <a:ea typeface="Arial" pitchFamily="34" charset="-122"/>
                <a:cs typeface="Arial" pitchFamily="34" charset="-120"/>
              </a:rPr>
              <a:t>One set of categories everyone uses: SLT, Board, team plans and the risk register. </a:t>
            </a:r>
            <a:endParaRPr lang="en-US" sz="1250" dirty="0"/>
          </a:p>
        </p:txBody>
      </p:sp>
      <p:sp>
        <p:nvSpPr>
          <p:cNvPr id="9" name="Shape 7"/>
          <p:cNvSpPr/>
          <p:nvPr/>
        </p:nvSpPr>
        <p:spPr>
          <a:xfrm>
            <a:off x="6263640" y="1298448"/>
            <a:ext cx="5532120" cy="1024128"/>
          </a:xfrm>
          <a:prstGeom prst="rect">
            <a:avLst/>
          </a:prstGeom>
          <a:solidFill>
            <a:srgbClr val="F7F5F2"/>
          </a:solidFill>
          <a:ln/>
        </p:spPr>
        <p:txBody>
          <a:bodyPr/>
          <a:lstStyle/>
          <a:p>
            <a:endParaRPr lang="en-GB"/>
          </a:p>
        </p:txBody>
      </p:sp>
      <p:sp>
        <p:nvSpPr>
          <p:cNvPr id="10" name="Shape 8"/>
          <p:cNvSpPr/>
          <p:nvPr/>
        </p:nvSpPr>
        <p:spPr>
          <a:xfrm>
            <a:off x="6263640" y="1298448"/>
            <a:ext cx="54864" cy="1024128"/>
          </a:xfrm>
          <a:prstGeom prst="rect">
            <a:avLst/>
          </a:prstGeom>
          <a:solidFill>
            <a:srgbClr val="DA291C"/>
          </a:solidFill>
          <a:ln/>
        </p:spPr>
        <p:txBody>
          <a:bodyPr/>
          <a:lstStyle/>
          <a:p>
            <a:endParaRPr lang="en-GB"/>
          </a:p>
        </p:txBody>
      </p:sp>
      <p:sp>
        <p:nvSpPr>
          <p:cNvPr id="11" name="Text 9"/>
          <p:cNvSpPr/>
          <p:nvPr/>
        </p:nvSpPr>
        <p:spPr>
          <a:xfrm>
            <a:off x="6446520" y="1353312"/>
            <a:ext cx="5212080" cy="914400"/>
          </a:xfrm>
          <a:prstGeom prst="rect">
            <a:avLst/>
          </a:prstGeom>
          <a:noFill/>
          <a:ln/>
        </p:spPr>
        <p:txBody>
          <a:bodyPr wrap="square" lIns="0" tIns="0" rIns="0" bIns="0" rtlCol="0" anchor="ctr"/>
          <a:lstStyle/>
          <a:p>
            <a:pPr marL="0" indent="0">
              <a:spcAft>
                <a:spcPts val="300"/>
              </a:spcAft>
              <a:buNone/>
            </a:pPr>
            <a:r>
              <a:rPr lang="en-US" sz="1250" b="1" dirty="0">
                <a:solidFill>
                  <a:srgbClr val="A81B12"/>
                </a:solidFill>
                <a:latin typeface="Arial" pitchFamily="34" charset="0"/>
                <a:ea typeface="Arial" pitchFamily="34" charset="-122"/>
                <a:cs typeface="Arial" pitchFamily="34" charset="-120"/>
              </a:rPr>
              <a:t>A complete picture</a:t>
            </a:r>
            <a:endParaRPr lang="en-US" sz="1250" dirty="0"/>
          </a:p>
          <a:p>
            <a:pPr marL="0" indent="0">
              <a:spcAft>
                <a:spcPts val="300"/>
              </a:spcAft>
              <a:buNone/>
            </a:pPr>
            <a:r>
              <a:rPr lang="en-US" sz="1050" dirty="0">
                <a:solidFill>
                  <a:srgbClr val="232323"/>
                </a:solidFill>
                <a:latin typeface="Arial" pitchFamily="34" charset="0"/>
                <a:ea typeface="Arial" pitchFamily="34" charset="-122"/>
                <a:cs typeface="Arial" pitchFamily="34" charset="-120"/>
              </a:rPr>
              <a:t>The taxonomy is a checklist for blind spots. If a category has no risks logged against it, we should be asking why</a:t>
            </a:r>
            <a:endParaRPr lang="en-US" sz="1250" dirty="0"/>
          </a:p>
        </p:txBody>
      </p:sp>
      <p:sp>
        <p:nvSpPr>
          <p:cNvPr id="12" name="Shape 10"/>
          <p:cNvSpPr/>
          <p:nvPr/>
        </p:nvSpPr>
        <p:spPr>
          <a:xfrm>
            <a:off x="411480" y="2468880"/>
            <a:ext cx="5532120" cy="1024128"/>
          </a:xfrm>
          <a:prstGeom prst="rect">
            <a:avLst/>
          </a:prstGeom>
          <a:solidFill>
            <a:srgbClr val="F7F5F2"/>
          </a:solidFill>
          <a:ln/>
        </p:spPr>
        <p:txBody>
          <a:bodyPr/>
          <a:lstStyle/>
          <a:p>
            <a:endParaRPr lang="en-GB"/>
          </a:p>
        </p:txBody>
      </p:sp>
      <p:sp>
        <p:nvSpPr>
          <p:cNvPr id="13" name="Shape 11"/>
          <p:cNvSpPr/>
          <p:nvPr/>
        </p:nvSpPr>
        <p:spPr>
          <a:xfrm>
            <a:off x="411480" y="2468880"/>
            <a:ext cx="54864" cy="1024128"/>
          </a:xfrm>
          <a:prstGeom prst="rect">
            <a:avLst/>
          </a:prstGeom>
          <a:solidFill>
            <a:srgbClr val="DA291C"/>
          </a:solidFill>
          <a:ln/>
        </p:spPr>
        <p:txBody>
          <a:bodyPr/>
          <a:lstStyle/>
          <a:p>
            <a:endParaRPr lang="en-GB"/>
          </a:p>
        </p:txBody>
      </p:sp>
      <p:sp>
        <p:nvSpPr>
          <p:cNvPr id="14" name="Text 12"/>
          <p:cNvSpPr/>
          <p:nvPr/>
        </p:nvSpPr>
        <p:spPr>
          <a:xfrm>
            <a:off x="594360" y="2523744"/>
            <a:ext cx="5212080" cy="914400"/>
          </a:xfrm>
          <a:prstGeom prst="rect">
            <a:avLst/>
          </a:prstGeom>
          <a:noFill/>
          <a:ln/>
        </p:spPr>
        <p:txBody>
          <a:bodyPr wrap="square" lIns="0" tIns="0" rIns="0" bIns="0" rtlCol="0" anchor="ctr"/>
          <a:lstStyle/>
          <a:p>
            <a:pPr marL="0" indent="0">
              <a:spcAft>
                <a:spcPts val="300"/>
              </a:spcAft>
              <a:buNone/>
            </a:pPr>
            <a:r>
              <a:rPr lang="en-US" sz="1250" b="1" dirty="0">
                <a:solidFill>
                  <a:srgbClr val="A81B12"/>
                </a:solidFill>
                <a:latin typeface="Arial" pitchFamily="34" charset="0"/>
                <a:ea typeface="Arial" pitchFamily="34" charset="-122"/>
                <a:cs typeface="Arial" pitchFamily="34" charset="-120"/>
              </a:rPr>
              <a:t>Clear ownership</a:t>
            </a:r>
            <a:endParaRPr lang="en-US" sz="1250" dirty="0"/>
          </a:p>
          <a:p>
            <a:pPr marL="0" indent="0">
              <a:spcAft>
                <a:spcPts val="300"/>
              </a:spcAft>
              <a:buNone/>
            </a:pPr>
            <a:r>
              <a:rPr lang="en-US" sz="1050" dirty="0">
                <a:solidFill>
                  <a:srgbClr val="232323"/>
                </a:solidFill>
                <a:latin typeface="Arial" pitchFamily="34" charset="0"/>
                <a:ea typeface="Arial" pitchFamily="34" charset="-122"/>
                <a:cs typeface="Arial" pitchFamily="34" charset="-120"/>
              </a:rPr>
              <a:t>Every Level 1 category has one named SLT owner. They don't carry every risk themselves, but they make sure their area is assessed, controlled and reported.</a:t>
            </a:r>
            <a:endParaRPr lang="en-US" sz="1250" dirty="0"/>
          </a:p>
        </p:txBody>
      </p:sp>
      <p:sp>
        <p:nvSpPr>
          <p:cNvPr id="15" name="Shape 13"/>
          <p:cNvSpPr/>
          <p:nvPr/>
        </p:nvSpPr>
        <p:spPr>
          <a:xfrm>
            <a:off x="6263640" y="2468880"/>
            <a:ext cx="5532120" cy="1024128"/>
          </a:xfrm>
          <a:prstGeom prst="rect">
            <a:avLst/>
          </a:prstGeom>
          <a:solidFill>
            <a:srgbClr val="F7F5F2"/>
          </a:solidFill>
          <a:ln/>
        </p:spPr>
        <p:txBody>
          <a:bodyPr/>
          <a:lstStyle/>
          <a:p>
            <a:endParaRPr lang="en-GB"/>
          </a:p>
        </p:txBody>
      </p:sp>
      <p:sp>
        <p:nvSpPr>
          <p:cNvPr id="16" name="Shape 14"/>
          <p:cNvSpPr/>
          <p:nvPr/>
        </p:nvSpPr>
        <p:spPr>
          <a:xfrm>
            <a:off x="6263640" y="2468880"/>
            <a:ext cx="54864" cy="1024128"/>
          </a:xfrm>
          <a:prstGeom prst="rect">
            <a:avLst/>
          </a:prstGeom>
          <a:solidFill>
            <a:srgbClr val="DA291C"/>
          </a:solidFill>
          <a:ln/>
        </p:spPr>
        <p:txBody>
          <a:bodyPr/>
          <a:lstStyle/>
          <a:p>
            <a:endParaRPr lang="en-GB"/>
          </a:p>
        </p:txBody>
      </p:sp>
      <p:sp>
        <p:nvSpPr>
          <p:cNvPr id="17" name="Text 15"/>
          <p:cNvSpPr/>
          <p:nvPr/>
        </p:nvSpPr>
        <p:spPr>
          <a:xfrm>
            <a:off x="6446520" y="2523744"/>
            <a:ext cx="5212080" cy="914400"/>
          </a:xfrm>
          <a:prstGeom prst="rect">
            <a:avLst/>
          </a:prstGeom>
          <a:noFill/>
          <a:ln/>
        </p:spPr>
        <p:txBody>
          <a:bodyPr wrap="square" lIns="0" tIns="0" rIns="0" bIns="0" rtlCol="0" anchor="ctr"/>
          <a:lstStyle/>
          <a:p>
            <a:pPr marL="0" indent="0">
              <a:spcAft>
                <a:spcPts val="300"/>
              </a:spcAft>
              <a:buNone/>
            </a:pPr>
            <a:r>
              <a:rPr lang="en-US" sz="1250" b="1" dirty="0">
                <a:solidFill>
                  <a:srgbClr val="A81B12"/>
                </a:solidFill>
                <a:latin typeface="Arial" pitchFamily="34" charset="0"/>
                <a:ea typeface="Arial" pitchFamily="34" charset="-122"/>
                <a:cs typeface="Arial" pitchFamily="34" charset="-120"/>
              </a:rPr>
              <a:t>Proportionate effort</a:t>
            </a:r>
            <a:endParaRPr lang="en-US" sz="1250" dirty="0"/>
          </a:p>
          <a:p>
            <a:pPr marL="0" indent="0">
              <a:spcAft>
                <a:spcPts val="300"/>
              </a:spcAft>
              <a:buNone/>
            </a:pPr>
            <a:r>
              <a:rPr lang="en-US" sz="1050" dirty="0">
                <a:solidFill>
                  <a:srgbClr val="232323"/>
                </a:solidFill>
                <a:latin typeface="Arial" pitchFamily="34" charset="0"/>
                <a:ea typeface="Arial" pitchFamily="34" charset="-122"/>
                <a:cs typeface="Arial" pitchFamily="34" charset="-120"/>
              </a:rPr>
              <a:t>With a draft appetite against each Level 2 risk area, we put control and assurance effort where we genuinely want less risk, and free things up where we are willing to embrace opportunities.</a:t>
            </a:r>
            <a:endParaRPr lang="en-US" sz="1250" dirty="0"/>
          </a:p>
        </p:txBody>
      </p:sp>
      <p:sp>
        <p:nvSpPr>
          <p:cNvPr id="18" name="Shape 16"/>
          <p:cNvSpPr/>
          <p:nvPr/>
        </p:nvSpPr>
        <p:spPr>
          <a:xfrm>
            <a:off x="411480" y="3840480"/>
            <a:ext cx="11384280" cy="841248"/>
          </a:xfrm>
          <a:prstGeom prst="rect">
            <a:avLst/>
          </a:prstGeom>
          <a:solidFill>
            <a:srgbClr val="FBEAE8"/>
          </a:solidFill>
          <a:ln/>
        </p:spPr>
        <p:txBody>
          <a:bodyPr/>
          <a:lstStyle/>
          <a:p>
            <a:endParaRPr lang="en-GB"/>
          </a:p>
        </p:txBody>
      </p:sp>
      <p:sp>
        <p:nvSpPr>
          <p:cNvPr id="19" name="Text 17"/>
          <p:cNvSpPr/>
          <p:nvPr/>
        </p:nvSpPr>
        <p:spPr>
          <a:xfrm>
            <a:off x="594360" y="3886200"/>
            <a:ext cx="11018520" cy="749808"/>
          </a:xfrm>
          <a:prstGeom prst="rect">
            <a:avLst/>
          </a:prstGeom>
          <a:noFill/>
          <a:ln/>
        </p:spPr>
        <p:txBody>
          <a:bodyPr wrap="square" lIns="0" tIns="0" rIns="0" bIns="0" rtlCol="0" anchor="ctr"/>
          <a:lstStyle/>
          <a:p>
            <a:pPr marL="0" indent="0">
              <a:buNone/>
            </a:pPr>
            <a:r>
              <a:rPr lang="en-US" sz="1100" b="1" dirty="0">
                <a:solidFill>
                  <a:srgbClr val="A81B12"/>
                </a:solidFill>
                <a:latin typeface="Arial" pitchFamily="34" charset="0"/>
                <a:ea typeface="Arial" pitchFamily="34" charset="-122"/>
                <a:cs typeface="Arial" pitchFamily="34" charset="-120"/>
              </a:rPr>
              <a:t>What this is not. </a:t>
            </a:r>
            <a:r>
              <a:rPr lang="en-US" sz="1100" dirty="0">
                <a:solidFill>
                  <a:srgbClr val="232323"/>
                </a:solidFill>
                <a:latin typeface="Arial" pitchFamily="34" charset="0"/>
                <a:ea typeface="Arial" pitchFamily="34" charset="-122"/>
                <a:cs typeface="Arial" pitchFamily="34" charset="-120"/>
              </a:rPr>
              <a:t>It isn't a risk register: the register lists actual risks, scores them and tracks actions. The taxonomy is the foundation the register sits on. And it isn't final: appetite is owned and set by the Board, so everything here is a proposal to shape that conversation.</a:t>
            </a:r>
            <a:endParaRPr lang="en-US" sz="1100" dirty="0"/>
          </a:p>
        </p:txBody>
      </p:sp>
      <p:sp>
        <p:nvSpPr>
          <p:cNvPr id="20" name="Shape 18"/>
          <p:cNvSpPr/>
          <p:nvPr/>
        </p:nvSpPr>
        <p:spPr>
          <a:xfrm>
            <a:off x="411480" y="4892040"/>
            <a:ext cx="11384280" cy="1234440"/>
          </a:xfrm>
          <a:prstGeom prst="rect">
            <a:avLst/>
          </a:prstGeom>
          <a:solidFill>
            <a:srgbClr val="F7F5F2"/>
          </a:solidFill>
          <a:ln/>
        </p:spPr>
        <p:txBody>
          <a:bodyPr/>
          <a:lstStyle/>
          <a:p>
            <a:endParaRPr lang="en-GB"/>
          </a:p>
        </p:txBody>
      </p:sp>
      <p:sp>
        <p:nvSpPr>
          <p:cNvPr id="21" name="Shape 19"/>
          <p:cNvSpPr/>
          <p:nvPr/>
        </p:nvSpPr>
        <p:spPr>
          <a:xfrm>
            <a:off x="411480" y="4892040"/>
            <a:ext cx="54864" cy="1234440"/>
          </a:xfrm>
          <a:prstGeom prst="rect">
            <a:avLst/>
          </a:prstGeom>
          <a:solidFill>
            <a:srgbClr val="DA291C"/>
          </a:solidFill>
          <a:ln/>
        </p:spPr>
        <p:txBody>
          <a:bodyPr/>
          <a:lstStyle/>
          <a:p>
            <a:endParaRPr lang="en-GB"/>
          </a:p>
        </p:txBody>
      </p:sp>
      <p:sp>
        <p:nvSpPr>
          <p:cNvPr id="22" name="Text 20"/>
          <p:cNvSpPr/>
          <p:nvPr/>
        </p:nvSpPr>
        <p:spPr>
          <a:xfrm>
            <a:off x="594360" y="4983480"/>
            <a:ext cx="11018520" cy="1051560"/>
          </a:xfrm>
          <a:prstGeom prst="rect">
            <a:avLst/>
          </a:prstGeom>
          <a:noFill/>
          <a:ln/>
        </p:spPr>
        <p:txBody>
          <a:bodyPr wrap="square" lIns="0" tIns="0" rIns="0" bIns="0" rtlCol="0" anchor="ctr"/>
          <a:lstStyle/>
          <a:p>
            <a:pPr marL="0" indent="0">
              <a:spcAft>
                <a:spcPts val="400"/>
              </a:spcAft>
              <a:buNone/>
            </a:pPr>
            <a:r>
              <a:rPr lang="en-US" sz="1200" b="1" dirty="0">
                <a:solidFill>
                  <a:srgbClr val="A81B12"/>
                </a:solidFill>
                <a:latin typeface="Arial" pitchFamily="34" charset="0"/>
                <a:ea typeface="Arial" pitchFamily="34" charset="-122"/>
                <a:cs typeface="Arial" pitchFamily="34" charset="-120"/>
              </a:rPr>
              <a:t>What happens next</a:t>
            </a:r>
            <a:endParaRPr lang="en-US" sz="1200" dirty="0"/>
          </a:p>
          <a:p>
            <a:pPr marL="0" indent="0">
              <a:spcAft>
                <a:spcPts val="400"/>
              </a:spcAft>
              <a:buNone/>
            </a:pPr>
            <a:r>
              <a:rPr lang="en-US" sz="1100" dirty="0">
                <a:solidFill>
                  <a:srgbClr val="232323"/>
                </a:solidFill>
                <a:latin typeface="Arial" pitchFamily="34" charset="0"/>
                <a:ea typeface="Arial" pitchFamily="34" charset="-122"/>
                <a:cs typeface="Arial" pitchFamily="34" charset="-120"/>
              </a:rPr>
              <a:t>SLT confirms categories, owners and draft appetite, then the draft taxonomy goes to ARG and Board for feedback. Following that feedback, we'll undertake a wider overhaul of risk management in autumn 2026: rebuilding the risk register around this map, drafting the appetite statement for Board approval, and resetting how risk is reported and reviewed, and launching this with the Leadership team and wider team.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DA291C"/>
          </a:solidFill>
          <a:ln/>
        </p:spPr>
        <p:txBody>
          <a:bodyPr/>
          <a:lstStyle/>
          <a:p>
            <a:endParaRPr lang="en-GB"/>
          </a:p>
        </p:txBody>
      </p:sp>
      <p:sp>
        <p:nvSpPr>
          <p:cNvPr id="3" name="Text 1"/>
          <p:cNvSpPr/>
          <p:nvPr/>
        </p:nvSpPr>
        <p:spPr>
          <a:xfrm>
            <a:off x="411480" y="0"/>
            <a:ext cx="9326880" cy="566928"/>
          </a:xfrm>
          <a:prstGeom prst="rect">
            <a:avLst/>
          </a:prstGeom>
          <a:noFill/>
          <a:ln/>
        </p:spPr>
        <p:txBody>
          <a:bodyPr wrap="square" lIns="0" tIns="0" rIns="0" bIns="0" rtlCol="0" anchor="ctr"/>
          <a:lstStyle/>
          <a:p>
            <a:pPr marL="0" indent="0">
              <a:buNone/>
            </a:pPr>
            <a:r>
              <a:rPr lang="en-US" sz="1700" dirty="0">
                <a:solidFill>
                  <a:srgbClr val="FFFFFF"/>
                </a:solidFill>
                <a:latin typeface="Arial Black" pitchFamily="34" charset="0"/>
                <a:ea typeface="Arial Black" pitchFamily="34" charset="-122"/>
                <a:cs typeface="Arial Black" pitchFamily="34" charset="-120"/>
              </a:rPr>
              <a:t>TCF Risk Taxonomy: Level 1 and Level 2</a:t>
            </a:r>
            <a:endParaRPr lang="en-US" sz="1700" dirty="0"/>
          </a:p>
        </p:txBody>
      </p:sp>
      <p:sp>
        <p:nvSpPr>
          <p:cNvPr id="4" name="Text 2"/>
          <p:cNvSpPr/>
          <p:nvPr/>
        </p:nvSpPr>
        <p:spPr>
          <a:xfrm>
            <a:off x="9692640" y="0"/>
            <a:ext cx="2103120" cy="566928"/>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DRAFT v3 | For SLT discussion</a:t>
            </a:r>
            <a:endParaRPr lang="en-US" sz="1000" dirty="0"/>
          </a:p>
        </p:txBody>
      </p:sp>
      <p:sp>
        <p:nvSpPr>
          <p:cNvPr id="5" name="Shape 3"/>
          <p:cNvSpPr/>
          <p:nvPr/>
        </p:nvSpPr>
        <p:spPr>
          <a:xfrm>
            <a:off x="228600" y="749808"/>
            <a:ext cx="1402804" cy="566928"/>
          </a:xfrm>
          <a:prstGeom prst="rect">
            <a:avLst/>
          </a:prstGeom>
          <a:solidFill>
            <a:srgbClr val="DA291C"/>
          </a:solidFill>
          <a:ln/>
        </p:spPr>
        <p:txBody>
          <a:bodyPr/>
          <a:lstStyle/>
          <a:p>
            <a:endParaRPr lang="en-GB"/>
          </a:p>
        </p:txBody>
      </p:sp>
      <p:sp>
        <p:nvSpPr>
          <p:cNvPr id="6" name="Text 4"/>
          <p:cNvSpPr/>
          <p:nvPr/>
        </p:nvSpPr>
        <p:spPr>
          <a:xfrm>
            <a:off x="283464"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Strategy &amp; Governance</a:t>
            </a:r>
            <a:endParaRPr lang="en-US" sz="850" dirty="0"/>
          </a:p>
        </p:txBody>
      </p:sp>
      <p:sp>
        <p:nvSpPr>
          <p:cNvPr id="7" name="Shape 5"/>
          <p:cNvSpPr/>
          <p:nvPr/>
        </p:nvSpPr>
        <p:spPr>
          <a:xfrm>
            <a:off x="228600" y="1362456"/>
            <a:ext cx="1402804" cy="402336"/>
          </a:xfrm>
          <a:prstGeom prst="rect">
            <a:avLst/>
          </a:prstGeom>
          <a:solidFill>
            <a:srgbClr val="F7F5F2"/>
          </a:solidFill>
          <a:ln/>
        </p:spPr>
        <p:txBody>
          <a:bodyPr/>
          <a:lstStyle/>
          <a:p>
            <a:endParaRPr lang="en-GB"/>
          </a:p>
        </p:txBody>
      </p:sp>
      <p:sp>
        <p:nvSpPr>
          <p:cNvPr id="8" name="Text 6"/>
          <p:cNvSpPr/>
          <p:nvPr/>
        </p:nvSpPr>
        <p:spPr>
          <a:xfrm>
            <a:off x="265176"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Julia (CEO)</a:t>
            </a:r>
            <a:endParaRPr lang="en-US" sz="600" dirty="0"/>
          </a:p>
        </p:txBody>
      </p:sp>
      <p:sp>
        <p:nvSpPr>
          <p:cNvPr id="9" name="Shape 7"/>
          <p:cNvSpPr/>
          <p:nvPr/>
        </p:nvSpPr>
        <p:spPr>
          <a:xfrm>
            <a:off x="228600"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10" name="Text 8"/>
          <p:cNvSpPr/>
          <p:nvPr/>
        </p:nvSpPr>
        <p:spPr>
          <a:xfrm>
            <a:off x="274320"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Strategy delivery and prioritisation</a:t>
            </a:r>
            <a:endParaRPr lang="en-US" sz="780" dirty="0"/>
          </a:p>
        </p:txBody>
      </p:sp>
      <p:sp>
        <p:nvSpPr>
          <p:cNvPr id="11" name="Shape 9"/>
          <p:cNvSpPr/>
          <p:nvPr/>
        </p:nvSpPr>
        <p:spPr>
          <a:xfrm>
            <a:off x="228600"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12" name="Text 10"/>
          <p:cNvSpPr/>
          <p:nvPr/>
        </p:nvSpPr>
        <p:spPr>
          <a:xfrm>
            <a:off x="274320"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Board, committee and Advisory Council effectiveness</a:t>
            </a:r>
            <a:endParaRPr lang="en-US" sz="780" dirty="0"/>
          </a:p>
        </p:txBody>
      </p:sp>
      <p:sp>
        <p:nvSpPr>
          <p:cNvPr id="13" name="Shape 11"/>
          <p:cNvSpPr/>
          <p:nvPr/>
        </p:nvSpPr>
        <p:spPr>
          <a:xfrm>
            <a:off x="228600"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14" name="Text 12"/>
          <p:cNvSpPr/>
          <p:nvPr/>
        </p:nvSpPr>
        <p:spPr>
          <a:xfrm>
            <a:off x="274320"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Charity Commission and regulatory compliance</a:t>
            </a:r>
            <a:endParaRPr lang="en-US" sz="780" dirty="0"/>
          </a:p>
        </p:txBody>
      </p:sp>
      <p:sp>
        <p:nvSpPr>
          <p:cNvPr id="15" name="Shape 13"/>
          <p:cNvSpPr/>
          <p:nvPr/>
        </p:nvSpPr>
        <p:spPr>
          <a:xfrm>
            <a:off x="228600"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16" name="Text 14"/>
          <p:cNvSpPr/>
          <p:nvPr/>
        </p:nvSpPr>
        <p:spPr>
          <a:xfrm>
            <a:off x="274320"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External partnerships and positioning</a:t>
            </a:r>
            <a:endParaRPr lang="en-US" sz="780" dirty="0"/>
          </a:p>
        </p:txBody>
      </p:sp>
      <p:sp>
        <p:nvSpPr>
          <p:cNvPr id="17" name="Shape 15"/>
          <p:cNvSpPr/>
          <p:nvPr/>
        </p:nvSpPr>
        <p:spPr>
          <a:xfrm>
            <a:off x="228600"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18" name="Text 16"/>
          <p:cNvSpPr/>
          <p:nvPr/>
        </p:nvSpPr>
        <p:spPr>
          <a:xfrm>
            <a:off x="274320"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External environment and political change</a:t>
            </a:r>
            <a:endParaRPr lang="en-US" sz="780" dirty="0"/>
          </a:p>
        </p:txBody>
      </p:sp>
      <p:sp>
        <p:nvSpPr>
          <p:cNvPr id="19" name="Shape 17"/>
          <p:cNvSpPr/>
          <p:nvPr/>
        </p:nvSpPr>
        <p:spPr>
          <a:xfrm>
            <a:off x="1704556" y="749808"/>
            <a:ext cx="1402804" cy="566928"/>
          </a:xfrm>
          <a:prstGeom prst="rect">
            <a:avLst/>
          </a:prstGeom>
          <a:solidFill>
            <a:srgbClr val="DA291C"/>
          </a:solidFill>
          <a:ln/>
        </p:spPr>
        <p:txBody>
          <a:bodyPr/>
          <a:lstStyle/>
          <a:p>
            <a:endParaRPr lang="en-GB"/>
          </a:p>
        </p:txBody>
      </p:sp>
      <p:sp>
        <p:nvSpPr>
          <p:cNvPr id="20" name="Text 18"/>
          <p:cNvSpPr/>
          <p:nvPr/>
        </p:nvSpPr>
        <p:spPr>
          <a:xfrm>
            <a:off x="1759420"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Fellowship Programme</a:t>
            </a:r>
            <a:endParaRPr lang="en-US" sz="850" dirty="0"/>
          </a:p>
        </p:txBody>
      </p:sp>
      <p:sp>
        <p:nvSpPr>
          <p:cNvPr id="21" name="Shape 19"/>
          <p:cNvSpPr/>
          <p:nvPr/>
        </p:nvSpPr>
        <p:spPr>
          <a:xfrm>
            <a:off x="1704556" y="1362456"/>
            <a:ext cx="1402804" cy="402336"/>
          </a:xfrm>
          <a:prstGeom prst="rect">
            <a:avLst/>
          </a:prstGeom>
          <a:solidFill>
            <a:srgbClr val="F7F5F2"/>
          </a:solidFill>
          <a:ln/>
        </p:spPr>
        <p:txBody>
          <a:bodyPr/>
          <a:lstStyle/>
          <a:p>
            <a:endParaRPr lang="en-GB"/>
          </a:p>
        </p:txBody>
      </p:sp>
      <p:sp>
        <p:nvSpPr>
          <p:cNvPr id="22" name="Text 20"/>
          <p:cNvSpPr/>
          <p:nvPr/>
        </p:nvSpPr>
        <p:spPr>
          <a:xfrm>
            <a:off x="1741132"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Nikesh (Fellowship)</a:t>
            </a:r>
            <a:endParaRPr lang="en-US" sz="600" dirty="0"/>
          </a:p>
        </p:txBody>
      </p:sp>
      <p:sp>
        <p:nvSpPr>
          <p:cNvPr id="23" name="Shape 21"/>
          <p:cNvSpPr/>
          <p:nvPr/>
        </p:nvSpPr>
        <p:spPr>
          <a:xfrm>
            <a:off x="1704556"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24" name="Text 22"/>
          <p:cNvSpPr/>
          <p:nvPr/>
        </p:nvSpPr>
        <p:spPr>
          <a:xfrm>
            <a:off x="1750276"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Fair and equitable Fellowship selection</a:t>
            </a:r>
            <a:endParaRPr lang="en-US" sz="780" dirty="0"/>
          </a:p>
        </p:txBody>
      </p:sp>
      <p:sp>
        <p:nvSpPr>
          <p:cNvPr id="25" name="Shape 23"/>
          <p:cNvSpPr/>
          <p:nvPr/>
        </p:nvSpPr>
        <p:spPr>
          <a:xfrm>
            <a:off x="1704556"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26" name="Text 24"/>
          <p:cNvSpPr/>
          <p:nvPr/>
        </p:nvSpPr>
        <p:spPr>
          <a:xfrm>
            <a:off x="1750276"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Fellow safety and security overseas</a:t>
            </a:r>
            <a:endParaRPr lang="en-US" sz="780" dirty="0"/>
          </a:p>
        </p:txBody>
      </p:sp>
      <p:sp>
        <p:nvSpPr>
          <p:cNvPr id="27" name="Shape 25"/>
          <p:cNvSpPr/>
          <p:nvPr/>
        </p:nvSpPr>
        <p:spPr>
          <a:xfrm>
            <a:off x="1704556"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28" name="Text 26"/>
          <p:cNvSpPr/>
          <p:nvPr/>
        </p:nvSpPr>
        <p:spPr>
          <a:xfrm>
            <a:off x="1750276"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Safeguarding</a:t>
            </a:r>
            <a:endParaRPr lang="en-US" sz="780" dirty="0"/>
          </a:p>
        </p:txBody>
      </p:sp>
      <p:sp>
        <p:nvSpPr>
          <p:cNvPr id="29" name="Shape 27"/>
          <p:cNvSpPr/>
          <p:nvPr/>
        </p:nvSpPr>
        <p:spPr>
          <a:xfrm>
            <a:off x="1704556"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30" name="Text 28"/>
          <p:cNvSpPr/>
          <p:nvPr/>
        </p:nvSpPr>
        <p:spPr>
          <a:xfrm>
            <a:off x="1750276"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Grant management and Activate delivery</a:t>
            </a:r>
            <a:endParaRPr lang="en-US" sz="780" dirty="0"/>
          </a:p>
        </p:txBody>
      </p:sp>
      <p:sp>
        <p:nvSpPr>
          <p:cNvPr id="31" name="Shape 29"/>
          <p:cNvSpPr/>
          <p:nvPr/>
        </p:nvSpPr>
        <p:spPr>
          <a:xfrm>
            <a:off x="3180512" y="749808"/>
            <a:ext cx="1402804" cy="566928"/>
          </a:xfrm>
          <a:prstGeom prst="rect">
            <a:avLst/>
          </a:prstGeom>
          <a:solidFill>
            <a:srgbClr val="DA291C"/>
          </a:solidFill>
          <a:ln/>
        </p:spPr>
        <p:txBody>
          <a:bodyPr/>
          <a:lstStyle/>
          <a:p>
            <a:endParaRPr lang="en-GB"/>
          </a:p>
        </p:txBody>
      </p:sp>
      <p:sp>
        <p:nvSpPr>
          <p:cNvPr id="32" name="Text 30"/>
          <p:cNvSpPr/>
          <p:nvPr/>
        </p:nvSpPr>
        <p:spPr>
          <a:xfrm>
            <a:off x="3235376"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Engagement &amp; Reputation</a:t>
            </a:r>
            <a:endParaRPr lang="en-US" sz="850" dirty="0"/>
          </a:p>
        </p:txBody>
      </p:sp>
      <p:sp>
        <p:nvSpPr>
          <p:cNvPr id="33" name="Shape 31"/>
          <p:cNvSpPr/>
          <p:nvPr/>
        </p:nvSpPr>
        <p:spPr>
          <a:xfrm>
            <a:off x="3180512" y="1362456"/>
            <a:ext cx="1402804" cy="402336"/>
          </a:xfrm>
          <a:prstGeom prst="rect">
            <a:avLst/>
          </a:prstGeom>
          <a:solidFill>
            <a:srgbClr val="F7F5F2"/>
          </a:solidFill>
          <a:ln/>
        </p:spPr>
        <p:txBody>
          <a:bodyPr/>
          <a:lstStyle/>
          <a:p>
            <a:endParaRPr lang="en-GB"/>
          </a:p>
        </p:txBody>
      </p:sp>
      <p:sp>
        <p:nvSpPr>
          <p:cNvPr id="34" name="Text 32"/>
          <p:cNvSpPr/>
          <p:nvPr/>
        </p:nvSpPr>
        <p:spPr>
          <a:xfrm>
            <a:off x="3217088"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Jacqui (Engagement)</a:t>
            </a:r>
            <a:endParaRPr lang="en-US" sz="600" dirty="0"/>
          </a:p>
        </p:txBody>
      </p:sp>
      <p:sp>
        <p:nvSpPr>
          <p:cNvPr id="35" name="Shape 33"/>
          <p:cNvSpPr/>
          <p:nvPr/>
        </p:nvSpPr>
        <p:spPr>
          <a:xfrm>
            <a:off x="3180512"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36" name="Text 34"/>
          <p:cNvSpPr/>
          <p:nvPr/>
        </p:nvSpPr>
        <p:spPr>
          <a:xfrm>
            <a:off x="3226232"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Programme and theme design</a:t>
            </a:r>
            <a:endParaRPr lang="en-US" sz="780" dirty="0"/>
          </a:p>
        </p:txBody>
      </p:sp>
      <p:sp>
        <p:nvSpPr>
          <p:cNvPr id="37" name="Shape 35"/>
          <p:cNvSpPr/>
          <p:nvPr/>
        </p:nvSpPr>
        <p:spPr>
          <a:xfrm>
            <a:off x="3180512"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38" name="Text 36"/>
          <p:cNvSpPr/>
          <p:nvPr/>
        </p:nvSpPr>
        <p:spPr>
          <a:xfrm>
            <a:off x="3226232"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Brand and reputation, incl. sensitive programme areas</a:t>
            </a:r>
            <a:endParaRPr lang="en-US" sz="780" dirty="0"/>
          </a:p>
        </p:txBody>
      </p:sp>
      <p:sp>
        <p:nvSpPr>
          <p:cNvPr id="39" name="Shape 37"/>
          <p:cNvSpPr/>
          <p:nvPr/>
        </p:nvSpPr>
        <p:spPr>
          <a:xfrm>
            <a:off x="3180512"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40" name="Text 38"/>
          <p:cNvSpPr/>
          <p:nvPr/>
        </p:nvSpPr>
        <p:spPr>
          <a:xfrm>
            <a:off x="3226232"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Media and crisis communications</a:t>
            </a:r>
            <a:endParaRPr lang="en-US" sz="780" dirty="0"/>
          </a:p>
        </p:txBody>
      </p:sp>
      <p:sp>
        <p:nvSpPr>
          <p:cNvPr id="41" name="Shape 39"/>
          <p:cNvSpPr/>
          <p:nvPr/>
        </p:nvSpPr>
        <p:spPr>
          <a:xfrm>
            <a:off x="3180512"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42" name="Text 40"/>
          <p:cNvSpPr/>
          <p:nvPr/>
        </p:nvSpPr>
        <p:spPr>
          <a:xfrm>
            <a:off x="3226232"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Fellow engagement and network experience</a:t>
            </a:r>
            <a:endParaRPr lang="en-US" sz="780" dirty="0"/>
          </a:p>
        </p:txBody>
      </p:sp>
      <p:sp>
        <p:nvSpPr>
          <p:cNvPr id="43" name="Shape 41"/>
          <p:cNvSpPr/>
          <p:nvPr/>
        </p:nvSpPr>
        <p:spPr>
          <a:xfrm>
            <a:off x="3180512"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44" name="Text 42"/>
          <p:cNvSpPr/>
          <p:nvPr/>
        </p:nvSpPr>
        <p:spPr>
          <a:xfrm>
            <a:off x="3226232"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Events and convening</a:t>
            </a:r>
            <a:endParaRPr lang="en-US" sz="780" dirty="0"/>
          </a:p>
        </p:txBody>
      </p:sp>
      <p:sp>
        <p:nvSpPr>
          <p:cNvPr id="45" name="Shape 43"/>
          <p:cNvSpPr/>
          <p:nvPr/>
        </p:nvSpPr>
        <p:spPr>
          <a:xfrm>
            <a:off x="3180512" y="5422392"/>
            <a:ext cx="1402804" cy="676656"/>
          </a:xfrm>
          <a:prstGeom prst="rect">
            <a:avLst/>
          </a:prstGeom>
          <a:solidFill>
            <a:srgbClr val="FFFFFF"/>
          </a:solidFill>
          <a:ln w="9525">
            <a:solidFill>
              <a:srgbClr val="C9C2BC"/>
            </a:solidFill>
            <a:prstDash val="solid"/>
          </a:ln>
        </p:spPr>
        <p:txBody>
          <a:bodyPr/>
          <a:lstStyle/>
          <a:p>
            <a:endParaRPr lang="en-GB"/>
          </a:p>
        </p:txBody>
      </p:sp>
      <p:sp>
        <p:nvSpPr>
          <p:cNvPr id="46" name="Text 44"/>
          <p:cNvSpPr/>
          <p:nvPr/>
        </p:nvSpPr>
        <p:spPr>
          <a:xfrm>
            <a:off x="3226232" y="542239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Knowledge curation and content accuracy</a:t>
            </a:r>
            <a:endParaRPr lang="en-US" sz="780" dirty="0"/>
          </a:p>
        </p:txBody>
      </p:sp>
      <p:sp>
        <p:nvSpPr>
          <p:cNvPr id="47" name="Shape 45"/>
          <p:cNvSpPr/>
          <p:nvPr/>
        </p:nvSpPr>
        <p:spPr>
          <a:xfrm>
            <a:off x="4656468" y="749808"/>
            <a:ext cx="1402804" cy="566928"/>
          </a:xfrm>
          <a:prstGeom prst="rect">
            <a:avLst/>
          </a:prstGeom>
          <a:solidFill>
            <a:srgbClr val="DA291C"/>
          </a:solidFill>
          <a:ln/>
        </p:spPr>
        <p:txBody>
          <a:bodyPr/>
          <a:lstStyle/>
          <a:p>
            <a:endParaRPr lang="en-GB"/>
          </a:p>
        </p:txBody>
      </p:sp>
      <p:sp>
        <p:nvSpPr>
          <p:cNvPr id="48" name="Text 46"/>
          <p:cNvSpPr/>
          <p:nvPr/>
        </p:nvSpPr>
        <p:spPr>
          <a:xfrm>
            <a:off x="4711332"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Fundraising</a:t>
            </a:r>
            <a:endParaRPr lang="en-US" sz="850" dirty="0"/>
          </a:p>
        </p:txBody>
      </p:sp>
      <p:sp>
        <p:nvSpPr>
          <p:cNvPr id="49" name="Shape 47"/>
          <p:cNvSpPr/>
          <p:nvPr/>
        </p:nvSpPr>
        <p:spPr>
          <a:xfrm>
            <a:off x="4656468" y="1362456"/>
            <a:ext cx="1402804" cy="402336"/>
          </a:xfrm>
          <a:prstGeom prst="rect">
            <a:avLst/>
          </a:prstGeom>
          <a:solidFill>
            <a:srgbClr val="F7F5F2"/>
          </a:solidFill>
          <a:ln/>
        </p:spPr>
        <p:txBody>
          <a:bodyPr/>
          <a:lstStyle/>
          <a:p>
            <a:endParaRPr lang="en-GB"/>
          </a:p>
        </p:txBody>
      </p:sp>
      <p:sp>
        <p:nvSpPr>
          <p:cNvPr id="50" name="Text 48"/>
          <p:cNvSpPr/>
          <p:nvPr/>
        </p:nvSpPr>
        <p:spPr>
          <a:xfrm>
            <a:off x="4693044"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Chris (Development)</a:t>
            </a:r>
            <a:endParaRPr lang="en-US" sz="600" dirty="0"/>
          </a:p>
        </p:txBody>
      </p:sp>
      <p:sp>
        <p:nvSpPr>
          <p:cNvPr id="51" name="Shape 49"/>
          <p:cNvSpPr/>
          <p:nvPr/>
        </p:nvSpPr>
        <p:spPr>
          <a:xfrm>
            <a:off x="4656468"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52" name="Text 50"/>
          <p:cNvSpPr/>
          <p:nvPr/>
        </p:nvSpPr>
        <p:spPr>
          <a:xfrm>
            <a:off x="4702188"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Fundraising innovation and new income streams</a:t>
            </a:r>
            <a:endParaRPr lang="en-US" sz="780" dirty="0"/>
          </a:p>
        </p:txBody>
      </p:sp>
      <p:sp>
        <p:nvSpPr>
          <p:cNvPr id="53" name="Shape 51"/>
          <p:cNvSpPr/>
          <p:nvPr/>
        </p:nvSpPr>
        <p:spPr>
          <a:xfrm>
            <a:off x="4656468"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54" name="Text 52"/>
          <p:cNvSpPr/>
          <p:nvPr/>
        </p:nvSpPr>
        <p:spPr>
          <a:xfrm>
            <a:off x="4702188"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Income concentration and pipeline resilience</a:t>
            </a:r>
            <a:endParaRPr lang="en-US" sz="780" dirty="0"/>
          </a:p>
        </p:txBody>
      </p:sp>
      <p:sp>
        <p:nvSpPr>
          <p:cNvPr id="55" name="Shape 53"/>
          <p:cNvSpPr/>
          <p:nvPr/>
        </p:nvSpPr>
        <p:spPr>
          <a:xfrm>
            <a:off x="4656468"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56" name="Text 54"/>
          <p:cNvSpPr/>
          <p:nvPr/>
        </p:nvSpPr>
        <p:spPr>
          <a:xfrm>
            <a:off x="4702188"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Donor due diligence and ethical acceptance</a:t>
            </a:r>
            <a:endParaRPr lang="en-US" sz="780" dirty="0"/>
          </a:p>
        </p:txBody>
      </p:sp>
      <p:sp>
        <p:nvSpPr>
          <p:cNvPr id="57" name="Shape 55"/>
          <p:cNvSpPr/>
          <p:nvPr/>
        </p:nvSpPr>
        <p:spPr>
          <a:xfrm>
            <a:off x="4656468"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58" name="Text 56"/>
          <p:cNvSpPr/>
          <p:nvPr/>
        </p:nvSpPr>
        <p:spPr>
          <a:xfrm>
            <a:off x="4702188"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Restricted funds and donor compliance</a:t>
            </a:r>
            <a:endParaRPr lang="en-US" sz="780" dirty="0"/>
          </a:p>
        </p:txBody>
      </p:sp>
      <p:sp>
        <p:nvSpPr>
          <p:cNvPr id="59" name="Shape 57"/>
          <p:cNvSpPr/>
          <p:nvPr/>
        </p:nvSpPr>
        <p:spPr>
          <a:xfrm>
            <a:off x="4656468"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60" name="Text 58"/>
          <p:cNvSpPr/>
          <p:nvPr/>
        </p:nvSpPr>
        <p:spPr>
          <a:xfrm>
            <a:off x="4702188"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Activate funding and donor cannibalisation</a:t>
            </a:r>
            <a:endParaRPr lang="en-US" sz="780" dirty="0"/>
          </a:p>
        </p:txBody>
      </p:sp>
      <p:sp>
        <p:nvSpPr>
          <p:cNvPr id="61" name="Shape 59"/>
          <p:cNvSpPr/>
          <p:nvPr/>
        </p:nvSpPr>
        <p:spPr>
          <a:xfrm>
            <a:off x="4656468" y="5422392"/>
            <a:ext cx="1402804" cy="676656"/>
          </a:xfrm>
          <a:prstGeom prst="rect">
            <a:avLst/>
          </a:prstGeom>
          <a:solidFill>
            <a:srgbClr val="FFFFFF"/>
          </a:solidFill>
          <a:ln w="9525">
            <a:solidFill>
              <a:srgbClr val="C9C2BC"/>
            </a:solidFill>
            <a:prstDash val="solid"/>
          </a:ln>
        </p:spPr>
        <p:txBody>
          <a:bodyPr/>
          <a:lstStyle/>
          <a:p>
            <a:endParaRPr lang="en-GB"/>
          </a:p>
        </p:txBody>
      </p:sp>
      <p:sp>
        <p:nvSpPr>
          <p:cNvPr id="62" name="Text 60"/>
          <p:cNvSpPr/>
          <p:nvPr/>
        </p:nvSpPr>
        <p:spPr>
          <a:xfrm>
            <a:off x="4702188" y="542239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Case for support and impact evidence</a:t>
            </a:r>
            <a:endParaRPr lang="en-US" sz="780" dirty="0"/>
          </a:p>
        </p:txBody>
      </p:sp>
      <p:sp>
        <p:nvSpPr>
          <p:cNvPr id="63" name="Shape 61"/>
          <p:cNvSpPr/>
          <p:nvPr/>
        </p:nvSpPr>
        <p:spPr>
          <a:xfrm>
            <a:off x="6132424" y="749808"/>
            <a:ext cx="1402804" cy="566928"/>
          </a:xfrm>
          <a:prstGeom prst="rect">
            <a:avLst/>
          </a:prstGeom>
          <a:solidFill>
            <a:srgbClr val="DA291C"/>
          </a:solidFill>
          <a:ln/>
        </p:spPr>
        <p:txBody>
          <a:bodyPr/>
          <a:lstStyle/>
          <a:p>
            <a:endParaRPr lang="en-GB"/>
          </a:p>
        </p:txBody>
      </p:sp>
      <p:sp>
        <p:nvSpPr>
          <p:cNvPr id="64" name="Text 62"/>
          <p:cNvSpPr/>
          <p:nvPr/>
        </p:nvSpPr>
        <p:spPr>
          <a:xfrm>
            <a:off x="6187288"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Finance &amp; Endowment</a:t>
            </a:r>
            <a:endParaRPr lang="en-US" sz="850" dirty="0"/>
          </a:p>
        </p:txBody>
      </p:sp>
      <p:sp>
        <p:nvSpPr>
          <p:cNvPr id="65" name="Shape 63"/>
          <p:cNvSpPr/>
          <p:nvPr/>
        </p:nvSpPr>
        <p:spPr>
          <a:xfrm>
            <a:off x="6132424" y="1362456"/>
            <a:ext cx="1402804" cy="402336"/>
          </a:xfrm>
          <a:prstGeom prst="rect">
            <a:avLst/>
          </a:prstGeom>
          <a:solidFill>
            <a:srgbClr val="F7F5F2"/>
          </a:solidFill>
          <a:ln/>
        </p:spPr>
        <p:txBody>
          <a:bodyPr/>
          <a:lstStyle/>
          <a:p>
            <a:endParaRPr lang="en-GB"/>
          </a:p>
        </p:txBody>
      </p:sp>
      <p:sp>
        <p:nvSpPr>
          <p:cNvPr id="66" name="Text 64"/>
          <p:cNvSpPr/>
          <p:nvPr/>
        </p:nvSpPr>
        <p:spPr>
          <a:xfrm>
            <a:off x="6169000"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Jim (COO)</a:t>
            </a:r>
            <a:endParaRPr lang="en-US" sz="600" dirty="0"/>
          </a:p>
        </p:txBody>
      </p:sp>
      <p:sp>
        <p:nvSpPr>
          <p:cNvPr id="67" name="Shape 65"/>
          <p:cNvSpPr/>
          <p:nvPr/>
        </p:nvSpPr>
        <p:spPr>
          <a:xfrm>
            <a:off x="6132424"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68" name="Text 66"/>
          <p:cNvSpPr/>
          <p:nvPr/>
        </p:nvSpPr>
        <p:spPr>
          <a:xfrm>
            <a:off x="6178144"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Endowment performance and drawdown</a:t>
            </a:r>
            <a:endParaRPr lang="en-US" sz="780" dirty="0"/>
          </a:p>
        </p:txBody>
      </p:sp>
      <p:sp>
        <p:nvSpPr>
          <p:cNvPr id="69" name="Shape 67"/>
          <p:cNvSpPr/>
          <p:nvPr/>
        </p:nvSpPr>
        <p:spPr>
          <a:xfrm>
            <a:off x="6132424"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70" name="Text 68"/>
          <p:cNvSpPr/>
          <p:nvPr/>
        </p:nvSpPr>
        <p:spPr>
          <a:xfrm>
            <a:off x="6178144"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Liquidity, reserves and solvency</a:t>
            </a:r>
            <a:endParaRPr lang="en-US" sz="780" dirty="0"/>
          </a:p>
        </p:txBody>
      </p:sp>
      <p:sp>
        <p:nvSpPr>
          <p:cNvPr id="71" name="Shape 69"/>
          <p:cNvSpPr/>
          <p:nvPr/>
        </p:nvSpPr>
        <p:spPr>
          <a:xfrm>
            <a:off x="6132424"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72" name="Text 70"/>
          <p:cNvSpPr/>
          <p:nvPr/>
        </p:nvSpPr>
        <p:spPr>
          <a:xfrm>
            <a:off x="6178144"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Budgeting, forecasting and reporting</a:t>
            </a:r>
            <a:endParaRPr lang="en-US" sz="780" dirty="0"/>
          </a:p>
        </p:txBody>
      </p:sp>
      <p:sp>
        <p:nvSpPr>
          <p:cNvPr id="73" name="Shape 71"/>
          <p:cNvSpPr/>
          <p:nvPr/>
        </p:nvSpPr>
        <p:spPr>
          <a:xfrm>
            <a:off x="6132424"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74" name="Text 72"/>
          <p:cNvSpPr/>
          <p:nvPr/>
        </p:nvSpPr>
        <p:spPr>
          <a:xfrm>
            <a:off x="6178144"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Fraud and financial crime</a:t>
            </a:r>
            <a:endParaRPr lang="en-US" sz="780" dirty="0"/>
          </a:p>
        </p:txBody>
      </p:sp>
      <p:sp>
        <p:nvSpPr>
          <p:cNvPr id="75" name="Shape 73"/>
          <p:cNvSpPr/>
          <p:nvPr/>
        </p:nvSpPr>
        <p:spPr>
          <a:xfrm>
            <a:off x="7608380" y="749808"/>
            <a:ext cx="1402804" cy="566928"/>
          </a:xfrm>
          <a:prstGeom prst="rect">
            <a:avLst/>
          </a:prstGeom>
          <a:solidFill>
            <a:srgbClr val="DA291C"/>
          </a:solidFill>
          <a:ln/>
        </p:spPr>
        <p:txBody>
          <a:bodyPr/>
          <a:lstStyle/>
          <a:p>
            <a:endParaRPr lang="en-GB"/>
          </a:p>
        </p:txBody>
      </p:sp>
      <p:sp>
        <p:nvSpPr>
          <p:cNvPr id="76" name="Text 74"/>
          <p:cNvSpPr/>
          <p:nvPr/>
        </p:nvSpPr>
        <p:spPr>
          <a:xfrm>
            <a:off x="7663244"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People &amp; Culture</a:t>
            </a:r>
            <a:endParaRPr lang="en-US" sz="850" dirty="0"/>
          </a:p>
        </p:txBody>
      </p:sp>
      <p:sp>
        <p:nvSpPr>
          <p:cNvPr id="77" name="Shape 75"/>
          <p:cNvSpPr/>
          <p:nvPr/>
        </p:nvSpPr>
        <p:spPr>
          <a:xfrm>
            <a:off x="7608380" y="1362456"/>
            <a:ext cx="1402804" cy="402336"/>
          </a:xfrm>
          <a:prstGeom prst="rect">
            <a:avLst/>
          </a:prstGeom>
          <a:solidFill>
            <a:srgbClr val="F7F5F2"/>
          </a:solidFill>
          <a:ln/>
        </p:spPr>
        <p:txBody>
          <a:bodyPr/>
          <a:lstStyle/>
          <a:p>
            <a:endParaRPr lang="en-GB"/>
          </a:p>
        </p:txBody>
      </p:sp>
      <p:sp>
        <p:nvSpPr>
          <p:cNvPr id="78" name="Text 76"/>
          <p:cNvSpPr/>
          <p:nvPr/>
        </p:nvSpPr>
        <p:spPr>
          <a:xfrm>
            <a:off x="7644955"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Julia (CEO)</a:t>
            </a:r>
            <a:endParaRPr lang="en-US" sz="600" dirty="0"/>
          </a:p>
        </p:txBody>
      </p:sp>
      <p:sp>
        <p:nvSpPr>
          <p:cNvPr id="79" name="Shape 77"/>
          <p:cNvSpPr/>
          <p:nvPr/>
        </p:nvSpPr>
        <p:spPr>
          <a:xfrm>
            <a:off x="7608380"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80" name="Text 78"/>
          <p:cNvSpPr/>
          <p:nvPr/>
        </p:nvSpPr>
        <p:spPr>
          <a:xfrm>
            <a:off x="7654100"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Recruitment, retention and capability</a:t>
            </a:r>
            <a:endParaRPr lang="en-US" sz="780" dirty="0"/>
          </a:p>
        </p:txBody>
      </p:sp>
      <p:sp>
        <p:nvSpPr>
          <p:cNvPr id="81" name="Shape 79"/>
          <p:cNvSpPr/>
          <p:nvPr/>
        </p:nvSpPr>
        <p:spPr>
          <a:xfrm>
            <a:off x="7608380"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82" name="Text 80"/>
          <p:cNvSpPr/>
          <p:nvPr/>
        </p:nvSpPr>
        <p:spPr>
          <a:xfrm>
            <a:off x="7654100"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Wellbeing, health and safety</a:t>
            </a:r>
            <a:endParaRPr lang="en-US" sz="780" dirty="0"/>
          </a:p>
        </p:txBody>
      </p:sp>
      <p:sp>
        <p:nvSpPr>
          <p:cNvPr id="83" name="Shape 81"/>
          <p:cNvSpPr/>
          <p:nvPr/>
        </p:nvSpPr>
        <p:spPr>
          <a:xfrm>
            <a:off x="7608380"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84" name="Text 82"/>
          <p:cNvSpPr/>
          <p:nvPr/>
        </p:nvSpPr>
        <p:spPr>
          <a:xfrm>
            <a:off x="7654100"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Diversity &amp; Inclusion in our workforce</a:t>
            </a:r>
            <a:endParaRPr lang="en-US" sz="780" dirty="0"/>
          </a:p>
        </p:txBody>
      </p:sp>
      <p:sp>
        <p:nvSpPr>
          <p:cNvPr id="85" name="Shape 83"/>
          <p:cNvSpPr/>
          <p:nvPr/>
        </p:nvSpPr>
        <p:spPr>
          <a:xfrm>
            <a:off x="7608380"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86" name="Text 84"/>
          <p:cNvSpPr/>
          <p:nvPr/>
        </p:nvSpPr>
        <p:spPr>
          <a:xfrm>
            <a:off x="7654100"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Culture, capacity and change fatigue</a:t>
            </a:r>
            <a:endParaRPr lang="en-US" sz="780" dirty="0"/>
          </a:p>
        </p:txBody>
      </p:sp>
      <p:sp>
        <p:nvSpPr>
          <p:cNvPr id="87" name="Shape 85"/>
          <p:cNvSpPr/>
          <p:nvPr/>
        </p:nvSpPr>
        <p:spPr>
          <a:xfrm>
            <a:off x="7608380"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88" name="Text 86"/>
          <p:cNvSpPr/>
          <p:nvPr/>
        </p:nvSpPr>
        <p:spPr>
          <a:xfrm>
            <a:off x="7654100"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Key person dependency</a:t>
            </a:r>
            <a:endParaRPr lang="en-US" sz="780" dirty="0"/>
          </a:p>
        </p:txBody>
      </p:sp>
      <p:sp>
        <p:nvSpPr>
          <p:cNvPr id="89" name="Shape 87"/>
          <p:cNvSpPr/>
          <p:nvPr/>
        </p:nvSpPr>
        <p:spPr>
          <a:xfrm>
            <a:off x="9084335" y="749808"/>
            <a:ext cx="1402804" cy="566928"/>
          </a:xfrm>
          <a:prstGeom prst="rect">
            <a:avLst/>
          </a:prstGeom>
          <a:solidFill>
            <a:srgbClr val="DA291C"/>
          </a:solidFill>
          <a:ln/>
        </p:spPr>
        <p:txBody>
          <a:bodyPr/>
          <a:lstStyle/>
          <a:p>
            <a:endParaRPr lang="en-GB"/>
          </a:p>
        </p:txBody>
      </p:sp>
      <p:sp>
        <p:nvSpPr>
          <p:cNvPr id="90" name="Text 88"/>
          <p:cNvSpPr/>
          <p:nvPr/>
        </p:nvSpPr>
        <p:spPr>
          <a:xfrm>
            <a:off x="9139199"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Change &amp; Transformation</a:t>
            </a:r>
            <a:endParaRPr lang="en-US" sz="850" dirty="0"/>
          </a:p>
        </p:txBody>
      </p:sp>
      <p:sp>
        <p:nvSpPr>
          <p:cNvPr id="91" name="Shape 89"/>
          <p:cNvSpPr/>
          <p:nvPr/>
        </p:nvSpPr>
        <p:spPr>
          <a:xfrm>
            <a:off x="9084335" y="1362456"/>
            <a:ext cx="1402804" cy="402336"/>
          </a:xfrm>
          <a:prstGeom prst="rect">
            <a:avLst/>
          </a:prstGeom>
          <a:solidFill>
            <a:srgbClr val="F7F5F2"/>
          </a:solidFill>
          <a:ln/>
        </p:spPr>
        <p:txBody>
          <a:bodyPr/>
          <a:lstStyle/>
          <a:p>
            <a:endParaRPr lang="en-GB"/>
          </a:p>
        </p:txBody>
      </p:sp>
      <p:sp>
        <p:nvSpPr>
          <p:cNvPr id="92" name="Text 90"/>
          <p:cNvSpPr/>
          <p:nvPr/>
        </p:nvSpPr>
        <p:spPr>
          <a:xfrm>
            <a:off x="9120911"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Jim (COO)</a:t>
            </a:r>
            <a:endParaRPr lang="en-US" sz="600" dirty="0"/>
          </a:p>
        </p:txBody>
      </p:sp>
      <p:sp>
        <p:nvSpPr>
          <p:cNvPr id="93" name="Shape 91"/>
          <p:cNvSpPr/>
          <p:nvPr/>
        </p:nvSpPr>
        <p:spPr>
          <a:xfrm>
            <a:off x="9084335"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94" name="Text 92"/>
          <p:cNvSpPr/>
          <p:nvPr/>
        </p:nvSpPr>
        <p:spPr>
          <a:xfrm>
            <a:off x="9130055"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Change portfolio prioritisation and sequencing</a:t>
            </a:r>
            <a:endParaRPr lang="en-US" sz="780" dirty="0"/>
          </a:p>
        </p:txBody>
      </p:sp>
      <p:sp>
        <p:nvSpPr>
          <p:cNvPr id="95" name="Shape 93"/>
          <p:cNvSpPr/>
          <p:nvPr/>
        </p:nvSpPr>
        <p:spPr>
          <a:xfrm>
            <a:off x="9084335"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96" name="Text 94"/>
          <p:cNvSpPr/>
          <p:nvPr/>
        </p:nvSpPr>
        <p:spPr>
          <a:xfrm>
            <a:off x="9130055"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Portal design, delivery and adoption</a:t>
            </a:r>
            <a:endParaRPr lang="en-US" sz="780" dirty="0"/>
          </a:p>
        </p:txBody>
      </p:sp>
      <p:sp>
        <p:nvSpPr>
          <p:cNvPr id="97" name="Shape 95"/>
          <p:cNvSpPr/>
          <p:nvPr/>
        </p:nvSpPr>
        <p:spPr>
          <a:xfrm>
            <a:off x="9084335"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98" name="Text 96"/>
          <p:cNvSpPr/>
          <p:nvPr/>
        </p:nvSpPr>
        <p:spPr>
          <a:xfrm>
            <a:off x="9130055"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Office move delivery</a:t>
            </a:r>
            <a:endParaRPr lang="en-US" sz="780" dirty="0"/>
          </a:p>
        </p:txBody>
      </p:sp>
      <p:sp>
        <p:nvSpPr>
          <p:cNvPr id="99" name="Shape 97"/>
          <p:cNvSpPr/>
          <p:nvPr/>
        </p:nvSpPr>
        <p:spPr>
          <a:xfrm>
            <a:off x="9084335"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100" name="Text 98"/>
          <p:cNvSpPr/>
          <p:nvPr/>
        </p:nvSpPr>
        <p:spPr>
          <a:xfrm>
            <a:off x="9130055"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AI adoption and innovation</a:t>
            </a:r>
            <a:endParaRPr lang="en-US" sz="780" dirty="0"/>
          </a:p>
        </p:txBody>
      </p:sp>
      <p:sp>
        <p:nvSpPr>
          <p:cNvPr id="101" name="Shape 99"/>
          <p:cNvSpPr/>
          <p:nvPr/>
        </p:nvSpPr>
        <p:spPr>
          <a:xfrm>
            <a:off x="9084335"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102" name="Text 100"/>
          <p:cNvSpPr/>
          <p:nvPr/>
        </p:nvSpPr>
        <p:spPr>
          <a:xfrm>
            <a:off x="9130055"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Benefits realisation and ways of working</a:t>
            </a:r>
            <a:endParaRPr lang="en-US" sz="780" dirty="0"/>
          </a:p>
        </p:txBody>
      </p:sp>
      <p:sp>
        <p:nvSpPr>
          <p:cNvPr id="103" name="Shape 101"/>
          <p:cNvSpPr/>
          <p:nvPr/>
        </p:nvSpPr>
        <p:spPr>
          <a:xfrm>
            <a:off x="10560291" y="749808"/>
            <a:ext cx="1402804" cy="566928"/>
          </a:xfrm>
          <a:prstGeom prst="rect">
            <a:avLst/>
          </a:prstGeom>
          <a:solidFill>
            <a:srgbClr val="DA291C"/>
          </a:solidFill>
          <a:ln/>
        </p:spPr>
        <p:txBody>
          <a:bodyPr/>
          <a:lstStyle/>
          <a:p>
            <a:endParaRPr lang="en-GB"/>
          </a:p>
        </p:txBody>
      </p:sp>
      <p:sp>
        <p:nvSpPr>
          <p:cNvPr id="104" name="Text 102"/>
          <p:cNvSpPr/>
          <p:nvPr/>
        </p:nvSpPr>
        <p:spPr>
          <a:xfrm>
            <a:off x="10615155" y="749808"/>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Operations, Tech &amp; Data</a:t>
            </a:r>
            <a:endParaRPr lang="en-US" sz="850" dirty="0"/>
          </a:p>
        </p:txBody>
      </p:sp>
      <p:sp>
        <p:nvSpPr>
          <p:cNvPr id="105" name="Shape 103"/>
          <p:cNvSpPr/>
          <p:nvPr/>
        </p:nvSpPr>
        <p:spPr>
          <a:xfrm>
            <a:off x="10560291" y="1362456"/>
            <a:ext cx="1402804" cy="402336"/>
          </a:xfrm>
          <a:prstGeom prst="rect">
            <a:avLst/>
          </a:prstGeom>
          <a:solidFill>
            <a:srgbClr val="F7F5F2"/>
          </a:solidFill>
          <a:ln/>
        </p:spPr>
        <p:txBody>
          <a:bodyPr/>
          <a:lstStyle/>
          <a:p>
            <a:endParaRPr lang="en-GB"/>
          </a:p>
        </p:txBody>
      </p:sp>
      <p:sp>
        <p:nvSpPr>
          <p:cNvPr id="106" name="Text 104"/>
          <p:cNvSpPr/>
          <p:nvPr/>
        </p:nvSpPr>
        <p:spPr>
          <a:xfrm>
            <a:off x="10596867" y="1362456"/>
            <a:ext cx="1329652" cy="402336"/>
          </a:xfrm>
          <a:prstGeom prst="rect">
            <a:avLst/>
          </a:prstGeom>
          <a:noFill/>
          <a:ln/>
        </p:spPr>
        <p:txBody>
          <a:bodyPr wrap="square" lIns="0" tIns="0" rIns="0" bIns="0" rtlCol="0" anchor="ctr"/>
          <a:lstStyle/>
          <a:p>
            <a:pPr marL="0" indent="0" algn="ctr">
              <a:spcAft>
                <a:spcPts val="100"/>
              </a:spcAft>
              <a:buNone/>
            </a:pPr>
            <a:r>
              <a:rPr lang="en-US" sz="600" b="1" dirty="0">
                <a:solidFill>
                  <a:srgbClr val="A81B12"/>
                </a:solidFill>
                <a:latin typeface="Arial" pitchFamily="34" charset="0"/>
                <a:ea typeface="Arial" pitchFamily="34" charset="-122"/>
                <a:cs typeface="Arial" pitchFamily="34" charset="-120"/>
              </a:rPr>
              <a:t>OWNER</a:t>
            </a:r>
            <a:endParaRPr lang="en-US" sz="600" dirty="0"/>
          </a:p>
          <a:p>
            <a:pPr marL="0" indent="0" algn="ctr">
              <a:spcAft>
                <a:spcPts val="100"/>
              </a:spcAft>
              <a:buNone/>
            </a:pPr>
            <a:r>
              <a:rPr lang="en-US" sz="800" b="1" dirty="0">
                <a:solidFill>
                  <a:srgbClr val="232323"/>
                </a:solidFill>
                <a:latin typeface="Arial" pitchFamily="34" charset="0"/>
                <a:ea typeface="Arial" pitchFamily="34" charset="-122"/>
                <a:cs typeface="Arial" pitchFamily="34" charset="-120"/>
              </a:rPr>
              <a:t>Jim (COO)</a:t>
            </a:r>
            <a:endParaRPr lang="en-US" sz="600" dirty="0"/>
          </a:p>
        </p:txBody>
      </p:sp>
      <p:sp>
        <p:nvSpPr>
          <p:cNvPr id="107" name="Shape 105"/>
          <p:cNvSpPr/>
          <p:nvPr/>
        </p:nvSpPr>
        <p:spPr>
          <a:xfrm>
            <a:off x="10560291" y="1810512"/>
            <a:ext cx="1402804" cy="676656"/>
          </a:xfrm>
          <a:prstGeom prst="rect">
            <a:avLst/>
          </a:prstGeom>
          <a:solidFill>
            <a:srgbClr val="FFFFFF"/>
          </a:solidFill>
          <a:ln w="9525">
            <a:solidFill>
              <a:srgbClr val="C9C2BC"/>
            </a:solidFill>
            <a:prstDash val="solid"/>
          </a:ln>
        </p:spPr>
        <p:txBody>
          <a:bodyPr/>
          <a:lstStyle/>
          <a:p>
            <a:endParaRPr lang="en-GB"/>
          </a:p>
        </p:txBody>
      </p:sp>
      <p:sp>
        <p:nvSpPr>
          <p:cNvPr id="108" name="Text 106"/>
          <p:cNvSpPr/>
          <p:nvPr/>
        </p:nvSpPr>
        <p:spPr>
          <a:xfrm>
            <a:off x="10606011" y="18105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Cyber security and IT resilience</a:t>
            </a:r>
            <a:endParaRPr lang="en-US" sz="780" dirty="0"/>
          </a:p>
        </p:txBody>
      </p:sp>
      <p:sp>
        <p:nvSpPr>
          <p:cNvPr id="109" name="Shape 107"/>
          <p:cNvSpPr/>
          <p:nvPr/>
        </p:nvSpPr>
        <p:spPr>
          <a:xfrm>
            <a:off x="10560291" y="2532888"/>
            <a:ext cx="1402804" cy="676656"/>
          </a:xfrm>
          <a:prstGeom prst="rect">
            <a:avLst/>
          </a:prstGeom>
          <a:solidFill>
            <a:srgbClr val="FFFFFF"/>
          </a:solidFill>
          <a:ln w="9525">
            <a:solidFill>
              <a:srgbClr val="C9C2BC"/>
            </a:solidFill>
            <a:prstDash val="solid"/>
          </a:ln>
        </p:spPr>
        <p:txBody>
          <a:bodyPr/>
          <a:lstStyle/>
          <a:p>
            <a:endParaRPr lang="en-GB"/>
          </a:p>
        </p:txBody>
      </p:sp>
      <p:sp>
        <p:nvSpPr>
          <p:cNvPr id="110" name="Text 108"/>
          <p:cNvSpPr/>
          <p:nvPr/>
        </p:nvSpPr>
        <p:spPr>
          <a:xfrm>
            <a:off x="10606011" y="25328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Tech system suitability, procurement, integration and data quality</a:t>
            </a:r>
            <a:endParaRPr lang="en-US" sz="780" dirty="0"/>
          </a:p>
        </p:txBody>
      </p:sp>
      <p:sp>
        <p:nvSpPr>
          <p:cNvPr id="111" name="Shape 109"/>
          <p:cNvSpPr/>
          <p:nvPr/>
        </p:nvSpPr>
        <p:spPr>
          <a:xfrm>
            <a:off x="10560291" y="3255264"/>
            <a:ext cx="1402804" cy="676656"/>
          </a:xfrm>
          <a:prstGeom prst="rect">
            <a:avLst/>
          </a:prstGeom>
          <a:solidFill>
            <a:srgbClr val="FFFFFF"/>
          </a:solidFill>
          <a:ln w="9525">
            <a:solidFill>
              <a:srgbClr val="C9C2BC"/>
            </a:solidFill>
            <a:prstDash val="solid"/>
          </a:ln>
        </p:spPr>
        <p:txBody>
          <a:bodyPr/>
          <a:lstStyle/>
          <a:p>
            <a:endParaRPr lang="en-GB"/>
          </a:p>
        </p:txBody>
      </p:sp>
      <p:sp>
        <p:nvSpPr>
          <p:cNvPr id="112" name="Text 110"/>
          <p:cNvSpPr/>
          <p:nvPr/>
        </p:nvSpPr>
        <p:spPr>
          <a:xfrm>
            <a:off x="10606011" y="32552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Data protection and privacy</a:t>
            </a:r>
            <a:endParaRPr lang="en-US" sz="780" dirty="0"/>
          </a:p>
        </p:txBody>
      </p:sp>
      <p:sp>
        <p:nvSpPr>
          <p:cNvPr id="113" name="Shape 111"/>
          <p:cNvSpPr/>
          <p:nvPr/>
        </p:nvSpPr>
        <p:spPr>
          <a:xfrm>
            <a:off x="10560291" y="3977640"/>
            <a:ext cx="1402804" cy="676656"/>
          </a:xfrm>
          <a:prstGeom prst="rect">
            <a:avLst/>
          </a:prstGeom>
          <a:solidFill>
            <a:srgbClr val="FFFFFF"/>
          </a:solidFill>
          <a:ln w="9525">
            <a:solidFill>
              <a:srgbClr val="C9C2BC"/>
            </a:solidFill>
            <a:prstDash val="solid"/>
          </a:ln>
        </p:spPr>
        <p:txBody>
          <a:bodyPr/>
          <a:lstStyle/>
          <a:p>
            <a:endParaRPr lang="en-GB"/>
          </a:p>
        </p:txBody>
      </p:sp>
      <p:sp>
        <p:nvSpPr>
          <p:cNvPr id="114" name="Text 112"/>
          <p:cNvSpPr/>
          <p:nvPr/>
        </p:nvSpPr>
        <p:spPr>
          <a:xfrm>
            <a:off x="10606011" y="39776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Facilities, business continuity and crisis management</a:t>
            </a:r>
            <a:endParaRPr lang="en-US" sz="780" dirty="0"/>
          </a:p>
        </p:txBody>
      </p:sp>
      <p:sp>
        <p:nvSpPr>
          <p:cNvPr id="115" name="Shape 113"/>
          <p:cNvSpPr/>
          <p:nvPr/>
        </p:nvSpPr>
        <p:spPr>
          <a:xfrm>
            <a:off x="10560291" y="4700016"/>
            <a:ext cx="1402804" cy="676656"/>
          </a:xfrm>
          <a:prstGeom prst="rect">
            <a:avLst/>
          </a:prstGeom>
          <a:solidFill>
            <a:srgbClr val="FFFFFF"/>
          </a:solidFill>
          <a:ln w="9525">
            <a:solidFill>
              <a:srgbClr val="C9C2BC"/>
            </a:solidFill>
            <a:prstDash val="solid"/>
          </a:ln>
        </p:spPr>
        <p:txBody>
          <a:bodyPr/>
          <a:lstStyle/>
          <a:p>
            <a:endParaRPr lang="en-GB"/>
          </a:p>
        </p:txBody>
      </p:sp>
      <p:sp>
        <p:nvSpPr>
          <p:cNvPr id="116" name="Text 114"/>
          <p:cNvSpPr/>
          <p:nvPr/>
        </p:nvSpPr>
        <p:spPr>
          <a:xfrm>
            <a:off x="10606011" y="470001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Suppliers and third parties</a:t>
            </a:r>
            <a:endParaRPr lang="en-US" sz="780" dirty="0"/>
          </a:p>
        </p:txBody>
      </p:sp>
      <p:sp>
        <p:nvSpPr>
          <p:cNvPr id="117" name="Text 115"/>
          <p:cNvSpPr/>
          <p:nvPr/>
        </p:nvSpPr>
        <p:spPr>
          <a:xfrm>
            <a:off x="228600" y="6446520"/>
            <a:ext cx="11704320" cy="256032"/>
          </a:xfrm>
          <a:prstGeom prst="rect">
            <a:avLst/>
          </a:prstGeom>
          <a:noFill/>
          <a:ln/>
        </p:spPr>
        <p:txBody>
          <a:bodyPr wrap="square" lIns="0" tIns="0" rIns="0" bIns="0" rtlCol="0" anchor="ctr"/>
          <a:lstStyle/>
          <a:p>
            <a:pPr marL="0" indent="0">
              <a:buNone/>
            </a:pPr>
            <a:r>
              <a:rPr lang="en-US" sz="900" i="1" dirty="0">
                <a:solidFill>
                  <a:srgbClr val="5A5A5A"/>
                </a:solidFill>
                <a:latin typeface="Arial" pitchFamily="34" charset="0"/>
                <a:ea typeface="Arial" pitchFamily="34" charset="-122"/>
                <a:cs typeface="Arial" pitchFamily="34" charset="-120"/>
              </a:rPr>
              <a:t>Level 2 lists are starting points; SLT to add, merge or remove.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DA291C"/>
          </a:solidFill>
          <a:ln/>
        </p:spPr>
        <p:txBody>
          <a:bodyPr/>
          <a:lstStyle/>
          <a:p>
            <a:endParaRPr lang="en-GB"/>
          </a:p>
        </p:txBody>
      </p:sp>
      <p:sp>
        <p:nvSpPr>
          <p:cNvPr id="3" name="Text 1"/>
          <p:cNvSpPr/>
          <p:nvPr/>
        </p:nvSpPr>
        <p:spPr>
          <a:xfrm>
            <a:off x="411480" y="0"/>
            <a:ext cx="9326880" cy="566928"/>
          </a:xfrm>
          <a:prstGeom prst="rect">
            <a:avLst/>
          </a:prstGeom>
          <a:noFill/>
          <a:ln/>
        </p:spPr>
        <p:txBody>
          <a:bodyPr wrap="square" lIns="0" tIns="0" rIns="0" bIns="0" rtlCol="0" anchor="ctr"/>
          <a:lstStyle/>
          <a:p>
            <a:pPr marL="0" indent="0">
              <a:buNone/>
            </a:pPr>
            <a:r>
              <a:rPr lang="en-US" sz="1700" dirty="0">
                <a:solidFill>
                  <a:srgbClr val="FFFFFF"/>
                </a:solidFill>
                <a:latin typeface="Arial Black" pitchFamily="34" charset="0"/>
                <a:ea typeface="Arial Black" pitchFamily="34" charset="-122"/>
                <a:cs typeface="Arial Black" pitchFamily="34" charset="-120"/>
              </a:rPr>
              <a:t>Draft risk appetite against each Level 2 risk area</a:t>
            </a:r>
            <a:endParaRPr lang="en-US" sz="1700" dirty="0"/>
          </a:p>
        </p:txBody>
      </p:sp>
      <p:sp>
        <p:nvSpPr>
          <p:cNvPr id="4" name="Text 2"/>
          <p:cNvSpPr/>
          <p:nvPr/>
        </p:nvSpPr>
        <p:spPr>
          <a:xfrm>
            <a:off x="9692640" y="0"/>
            <a:ext cx="2103120" cy="566928"/>
          </a:xfrm>
          <a:prstGeom prst="rect">
            <a:avLst/>
          </a:prstGeom>
          <a:noFill/>
          <a:ln/>
        </p:spPr>
        <p:txBody>
          <a:bodyPr wrap="square" lIns="0" tIns="0" rIns="0" bIns="0" rtlCol="0" anchor="ctr"/>
          <a:lstStyle/>
          <a:p>
            <a:pPr marL="0" indent="0" algn="r">
              <a:buNone/>
            </a:pPr>
            <a:r>
              <a:rPr lang="en-US" sz="1000" i="1" dirty="0">
                <a:solidFill>
                  <a:srgbClr val="FFFFFF"/>
                </a:solidFill>
                <a:latin typeface="Arial" pitchFamily="34" charset="0"/>
                <a:ea typeface="Arial" pitchFamily="34" charset="-122"/>
                <a:cs typeface="Arial" pitchFamily="34" charset="-120"/>
              </a:rPr>
              <a:t>DRAFT v3 | For SLT discussion</a:t>
            </a:r>
            <a:endParaRPr lang="en-US" sz="1000" dirty="0"/>
          </a:p>
        </p:txBody>
      </p:sp>
      <p:sp>
        <p:nvSpPr>
          <p:cNvPr id="5" name="Shape 3"/>
          <p:cNvSpPr/>
          <p:nvPr/>
        </p:nvSpPr>
        <p:spPr>
          <a:xfrm>
            <a:off x="411480" y="676656"/>
            <a:ext cx="2743200" cy="530352"/>
          </a:xfrm>
          <a:prstGeom prst="rect">
            <a:avLst/>
          </a:prstGeom>
          <a:solidFill>
            <a:srgbClr val="A81B12"/>
          </a:solidFill>
          <a:ln w="6350">
            <a:solidFill>
              <a:srgbClr val="C9C2BC"/>
            </a:solidFill>
            <a:prstDash val="solid"/>
          </a:ln>
        </p:spPr>
        <p:txBody>
          <a:bodyPr/>
          <a:lstStyle/>
          <a:p>
            <a:endParaRPr lang="en-GB"/>
          </a:p>
        </p:txBody>
      </p:sp>
      <p:sp>
        <p:nvSpPr>
          <p:cNvPr id="6" name="Text 4"/>
          <p:cNvSpPr/>
          <p:nvPr/>
        </p:nvSpPr>
        <p:spPr>
          <a:xfrm>
            <a:off x="502920" y="713232"/>
            <a:ext cx="2560320" cy="457200"/>
          </a:xfrm>
          <a:prstGeom prst="rect">
            <a:avLst/>
          </a:prstGeom>
          <a:noFill/>
          <a:ln/>
        </p:spPr>
        <p:txBody>
          <a:bodyPr wrap="square" lIns="0" tIns="0" rIns="0" bIns="0" rtlCol="0" anchor="t"/>
          <a:lstStyle/>
          <a:p>
            <a:pPr marL="0" indent="0">
              <a:spcAft>
                <a:spcPts val="100"/>
              </a:spcAft>
              <a:buNone/>
            </a:pPr>
            <a:r>
              <a:rPr lang="en-US" sz="950" b="1" dirty="0">
                <a:solidFill>
                  <a:srgbClr val="FFFFFF"/>
                </a:solidFill>
                <a:latin typeface="Arial" pitchFamily="34" charset="0"/>
                <a:ea typeface="Arial" pitchFamily="34" charset="-122"/>
                <a:cs typeface="Arial" pitchFamily="34" charset="-120"/>
              </a:rPr>
              <a:t>Averse</a:t>
            </a:r>
            <a:endParaRPr lang="en-US" sz="950" dirty="0"/>
          </a:p>
          <a:p>
            <a:pPr marL="0" indent="0">
              <a:spcAft>
                <a:spcPts val="100"/>
              </a:spcAft>
              <a:buNone/>
            </a:pPr>
            <a:r>
              <a:rPr lang="en-US" sz="750" dirty="0">
                <a:solidFill>
                  <a:srgbClr val="FFFFFF"/>
                </a:solidFill>
                <a:latin typeface="Arial" pitchFamily="34" charset="0"/>
                <a:ea typeface="Arial" pitchFamily="34" charset="-122"/>
                <a:cs typeface="Arial" pitchFamily="34" charset="-120"/>
              </a:rPr>
              <a:t>Minimise or eliminate risk wherever practicable</a:t>
            </a:r>
            <a:endParaRPr lang="en-US" sz="950" dirty="0"/>
          </a:p>
        </p:txBody>
      </p:sp>
      <p:sp>
        <p:nvSpPr>
          <p:cNvPr id="7" name="Shape 5"/>
          <p:cNvSpPr/>
          <p:nvPr/>
        </p:nvSpPr>
        <p:spPr>
          <a:xfrm>
            <a:off x="3291840" y="676656"/>
            <a:ext cx="2743200" cy="530352"/>
          </a:xfrm>
          <a:prstGeom prst="rect">
            <a:avLst/>
          </a:prstGeom>
          <a:solidFill>
            <a:srgbClr val="E0837B"/>
          </a:solidFill>
          <a:ln w="6350">
            <a:solidFill>
              <a:srgbClr val="C9C2BC"/>
            </a:solidFill>
            <a:prstDash val="solid"/>
          </a:ln>
        </p:spPr>
        <p:txBody>
          <a:bodyPr/>
          <a:lstStyle/>
          <a:p>
            <a:endParaRPr lang="en-GB"/>
          </a:p>
        </p:txBody>
      </p:sp>
      <p:sp>
        <p:nvSpPr>
          <p:cNvPr id="8" name="Text 6"/>
          <p:cNvSpPr/>
          <p:nvPr/>
        </p:nvSpPr>
        <p:spPr>
          <a:xfrm>
            <a:off x="3383280" y="713232"/>
            <a:ext cx="2560320" cy="457200"/>
          </a:xfrm>
          <a:prstGeom prst="rect">
            <a:avLst/>
          </a:prstGeom>
          <a:noFill/>
          <a:ln/>
        </p:spPr>
        <p:txBody>
          <a:bodyPr wrap="square" lIns="0" tIns="0" rIns="0" bIns="0" rtlCol="0" anchor="t"/>
          <a:lstStyle/>
          <a:p>
            <a:pPr marL="0" indent="0">
              <a:spcAft>
                <a:spcPts val="100"/>
              </a:spcAft>
              <a:buNone/>
            </a:pPr>
            <a:r>
              <a:rPr lang="en-US" sz="950" b="1" dirty="0">
                <a:solidFill>
                  <a:srgbClr val="232323"/>
                </a:solidFill>
                <a:latin typeface="Arial" pitchFamily="34" charset="0"/>
                <a:ea typeface="Arial" pitchFamily="34" charset="-122"/>
                <a:cs typeface="Arial" pitchFamily="34" charset="-120"/>
              </a:rPr>
              <a:t>Balanced: averse</a:t>
            </a:r>
            <a:endParaRPr lang="en-US" sz="950" dirty="0"/>
          </a:p>
          <a:p>
            <a:pPr marL="0" indent="0">
              <a:spcAft>
                <a:spcPts val="100"/>
              </a:spcAft>
              <a:buNone/>
            </a:pPr>
            <a:r>
              <a:rPr lang="en-US" sz="750" dirty="0">
                <a:solidFill>
                  <a:srgbClr val="232323"/>
                </a:solidFill>
                <a:latin typeface="Arial" pitchFamily="34" charset="0"/>
                <a:ea typeface="Arial" pitchFamily="34" charset="-122"/>
                <a:cs typeface="Arial" pitchFamily="34" charset="-120"/>
              </a:rPr>
              <a:t>Minimise risk without chasing elimination</a:t>
            </a:r>
            <a:endParaRPr lang="en-US" sz="950" dirty="0"/>
          </a:p>
        </p:txBody>
      </p:sp>
      <p:sp>
        <p:nvSpPr>
          <p:cNvPr id="9" name="Shape 7"/>
          <p:cNvSpPr/>
          <p:nvPr/>
        </p:nvSpPr>
        <p:spPr>
          <a:xfrm>
            <a:off x="6172200" y="676656"/>
            <a:ext cx="2743200" cy="530352"/>
          </a:xfrm>
          <a:prstGeom prst="rect">
            <a:avLst/>
          </a:prstGeom>
          <a:solidFill>
            <a:srgbClr val="F5C2BC"/>
          </a:solidFill>
          <a:ln w="6350">
            <a:solidFill>
              <a:srgbClr val="C9C2BC"/>
            </a:solidFill>
            <a:prstDash val="solid"/>
          </a:ln>
        </p:spPr>
        <p:txBody>
          <a:bodyPr/>
          <a:lstStyle/>
          <a:p>
            <a:endParaRPr lang="en-GB"/>
          </a:p>
        </p:txBody>
      </p:sp>
      <p:sp>
        <p:nvSpPr>
          <p:cNvPr id="10" name="Text 8"/>
          <p:cNvSpPr/>
          <p:nvPr/>
        </p:nvSpPr>
        <p:spPr>
          <a:xfrm>
            <a:off x="6263640" y="713232"/>
            <a:ext cx="2560320" cy="457200"/>
          </a:xfrm>
          <a:prstGeom prst="rect">
            <a:avLst/>
          </a:prstGeom>
          <a:noFill/>
          <a:ln/>
        </p:spPr>
        <p:txBody>
          <a:bodyPr wrap="square" lIns="0" tIns="0" rIns="0" bIns="0" rtlCol="0" anchor="t"/>
          <a:lstStyle/>
          <a:p>
            <a:pPr marL="0" indent="0">
              <a:spcAft>
                <a:spcPts val="100"/>
              </a:spcAft>
              <a:buNone/>
            </a:pPr>
            <a:r>
              <a:rPr lang="en-US" sz="950" b="1" dirty="0">
                <a:solidFill>
                  <a:srgbClr val="232323"/>
                </a:solidFill>
                <a:latin typeface="Arial" pitchFamily="34" charset="0"/>
                <a:ea typeface="Arial" pitchFamily="34" charset="-122"/>
                <a:cs typeface="Arial" pitchFamily="34" charset="-120"/>
              </a:rPr>
              <a:t>Balanced: seeking</a:t>
            </a:r>
            <a:endParaRPr lang="en-US" sz="950" dirty="0"/>
          </a:p>
          <a:p>
            <a:pPr marL="0" indent="0">
              <a:spcAft>
                <a:spcPts val="100"/>
              </a:spcAft>
              <a:buNone/>
            </a:pPr>
            <a:r>
              <a:rPr lang="en-US" sz="750" dirty="0">
                <a:solidFill>
                  <a:srgbClr val="232323"/>
                </a:solidFill>
                <a:latin typeface="Arial" pitchFamily="34" charset="0"/>
                <a:ea typeface="Arial" pitchFamily="34" charset="-122"/>
                <a:cs typeface="Arial" pitchFamily="34" charset="-120"/>
              </a:rPr>
              <a:t>Accept calculated risk proportionate to the opportunity</a:t>
            </a:r>
            <a:endParaRPr lang="en-US" sz="950" dirty="0"/>
          </a:p>
        </p:txBody>
      </p:sp>
      <p:sp>
        <p:nvSpPr>
          <p:cNvPr id="11" name="Shape 9"/>
          <p:cNvSpPr/>
          <p:nvPr/>
        </p:nvSpPr>
        <p:spPr>
          <a:xfrm>
            <a:off x="9052560" y="676656"/>
            <a:ext cx="2743200" cy="530352"/>
          </a:xfrm>
          <a:prstGeom prst="rect">
            <a:avLst/>
          </a:prstGeom>
          <a:solidFill>
            <a:srgbClr val="FFFFFF"/>
          </a:solidFill>
          <a:ln w="15875">
            <a:solidFill>
              <a:srgbClr val="DA291C"/>
            </a:solidFill>
            <a:prstDash val="solid"/>
          </a:ln>
        </p:spPr>
        <p:txBody>
          <a:bodyPr/>
          <a:lstStyle/>
          <a:p>
            <a:endParaRPr lang="en-GB"/>
          </a:p>
        </p:txBody>
      </p:sp>
      <p:sp>
        <p:nvSpPr>
          <p:cNvPr id="12" name="Text 10"/>
          <p:cNvSpPr/>
          <p:nvPr/>
        </p:nvSpPr>
        <p:spPr>
          <a:xfrm>
            <a:off x="9144000" y="713232"/>
            <a:ext cx="2560320" cy="457200"/>
          </a:xfrm>
          <a:prstGeom prst="rect">
            <a:avLst/>
          </a:prstGeom>
          <a:noFill/>
          <a:ln/>
        </p:spPr>
        <p:txBody>
          <a:bodyPr wrap="square" lIns="0" tIns="0" rIns="0" bIns="0" rtlCol="0" anchor="t"/>
          <a:lstStyle/>
          <a:p>
            <a:pPr marL="0" indent="0">
              <a:spcAft>
                <a:spcPts val="100"/>
              </a:spcAft>
              <a:buNone/>
            </a:pPr>
            <a:r>
              <a:rPr lang="en-US" sz="950" b="1" dirty="0">
                <a:solidFill>
                  <a:srgbClr val="DA291C"/>
                </a:solidFill>
                <a:latin typeface="Arial" pitchFamily="34" charset="0"/>
                <a:ea typeface="Arial" pitchFamily="34" charset="-122"/>
                <a:cs typeface="Arial" pitchFamily="34" charset="-120"/>
              </a:rPr>
              <a:t>Seeking</a:t>
            </a:r>
            <a:endParaRPr lang="en-US" sz="950" dirty="0"/>
          </a:p>
          <a:p>
            <a:pPr marL="0" indent="0">
              <a:spcAft>
                <a:spcPts val="100"/>
              </a:spcAft>
              <a:buNone/>
            </a:pPr>
            <a:r>
              <a:rPr lang="en-US" sz="750" dirty="0">
                <a:solidFill>
                  <a:srgbClr val="DA291C"/>
                </a:solidFill>
                <a:latin typeface="Arial" pitchFamily="34" charset="0"/>
                <a:ea typeface="Arial" pitchFamily="34" charset="-122"/>
                <a:cs typeface="Arial" pitchFamily="34" charset="-120"/>
              </a:rPr>
              <a:t>Accept risk in pursuit of bigger returns</a:t>
            </a:r>
            <a:endParaRPr lang="en-US" sz="950" dirty="0"/>
          </a:p>
        </p:txBody>
      </p:sp>
      <p:sp>
        <p:nvSpPr>
          <p:cNvPr id="13" name="Shape 11"/>
          <p:cNvSpPr/>
          <p:nvPr/>
        </p:nvSpPr>
        <p:spPr>
          <a:xfrm>
            <a:off x="228600" y="1353312"/>
            <a:ext cx="1402804" cy="566928"/>
          </a:xfrm>
          <a:prstGeom prst="rect">
            <a:avLst/>
          </a:prstGeom>
          <a:solidFill>
            <a:srgbClr val="DA291C"/>
          </a:solidFill>
          <a:ln/>
        </p:spPr>
        <p:txBody>
          <a:bodyPr/>
          <a:lstStyle/>
          <a:p>
            <a:endParaRPr lang="en-GB"/>
          </a:p>
        </p:txBody>
      </p:sp>
      <p:sp>
        <p:nvSpPr>
          <p:cNvPr id="14" name="Text 12"/>
          <p:cNvSpPr/>
          <p:nvPr/>
        </p:nvSpPr>
        <p:spPr>
          <a:xfrm>
            <a:off x="283464"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Strategy &amp; Governance</a:t>
            </a:r>
            <a:endParaRPr lang="en-US" sz="850" dirty="0"/>
          </a:p>
        </p:txBody>
      </p:sp>
      <p:sp>
        <p:nvSpPr>
          <p:cNvPr id="15" name="Shape 13"/>
          <p:cNvSpPr/>
          <p:nvPr/>
        </p:nvSpPr>
        <p:spPr>
          <a:xfrm>
            <a:off x="228600" y="1965960"/>
            <a:ext cx="1402804" cy="676656"/>
          </a:xfrm>
          <a:prstGeom prst="rect">
            <a:avLst/>
          </a:prstGeom>
          <a:solidFill>
            <a:srgbClr val="F5C2BC"/>
          </a:solidFill>
          <a:ln w="9525">
            <a:solidFill>
              <a:srgbClr val="F5C2BC"/>
            </a:solidFill>
            <a:prstDash val="solid"/>
          </a:ln>
        </p:spPr>
        <p:txBody>
          <a:bodyPr/>
          <a:lstStyle/>
          <a:p>
            <a:endParaRPr lang="en-GB"/>
          </a:p>
        </p:txBody>
      </p:sp>
      <p:sp>
        <p:nvSpPr>
          <p:cNvPr id="16" name="Text 14"/>
          <p:cNvSpPr/>
          <p:nvPr/>
        </p:nvSpPr>
        <p:spPr>
          <a:xfrm>
            <a:off x="274320" y="196596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Strategy delivery and prioritisation</a:t>
            </a:r>
            <a:endParaRPr lang="en-US" sz="780" dirty="0"/>
          </a:p>
        </p:txBody>
      </p:sp>
      <p:sp>
        <p:nvSpPr>
          <p:cNvPr id="17" name="Shape 15"/>
          <p:cNvSpPr/>
          <p:nvPr/>
        </p:nvSpPr>
        <p:spPr>
          <a:xfrm>
            <a:off x="228600" y="2688336"/>
            <a:ext cx="1402804" cy="676656"/>
          </a:xfrm>
          <a:prstGeom prst="rect">
            <a:avLst/>
          </a:prstGeom>
          <a:solidFill>
            <a:srgbClr val="E0837B"/>
          </a:solidFill>
          <a:ln w="9525">
            <a:solidFill>
              <a:srgbClr val="E0837B"/>
            </a:solidFill>
            <a:prstDash val="solid"/>
          </a:ln>
        </p:spPr>
        <p:txBody>
          <a:bodyPr/>
          <a:lstStyle/>
          <a:p>
            <a:endParaRPr lang="en-GB"/>
          </a:p>
        </p:txBody>
      </p:sp>
      <p:sp>
        <p:nvSpPr>
          <p:cNvPr id="18" name="Text 16"/>
          <p:cNvSpPr/>
          <p:nvPr/>
        </p:nvSpPr>
        <p:spPr>
          <a:xfrm>
            <a:off x="274320" y="268833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Board, committee and Advisory Council effectiveness</a:t>
            </a:r>
            <a:endParaRPr lang="en-US" sz="780" dirty="0"/>
          </a:p>
        </p:txBody>
      </p:sp>
      <p:sp>
        <p:nvSpPr>
          <p:cNvPr id="19" name="Shape 17"/>
          <p:cNvSpPr/>
          <p:nvPr/>
        </p:nvSpPr>
        <p:spPr>
          <a:xfrm>
            <a:off x="228600" y="3410712"/>
            <a:ext cx="1402804" cy="676656"/>
          </a:xfrm>
          <a:prstGeom prst="rect">
            <a:avLst/>
          </a:prstGeom>
          <a:solidFill>
            <a:srgbClr val="A81B12"/>
          </a:solidFill>
          <a:ln w="9525">
            <a:solidFill>
              <a:srgbClr val="A81B12"/>
            </a:solidFill>
            <a:prstDash val="solid"/>
          </a:ln>
        </p:spPr>
        <p:txBody>
          <a:bodyPr/>
          <a:lstStyle/>
          <a:p>
            <a:endParaRPr lang="en-GB"/>
          </a:p>
        </p:txBody>
      </p:sp>
      <p:sp>
        <p:nvSpPr>
          <p:cNvPr id="20" name="Text 18"/>
          <p:cNvSpPr/>
          <p:nvPr/>
        </p:nvSpPr>
        <p:spPr>
          <a:xfrm>
            <a:off x="274320" y="3410712"/>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Charity Commission and regulatory compliance</a:t>
            </a:r>
            <a:endParaRPr lang="en-US" sz="780" dirty="0"/>
          </a:p>
        </p:txBody>
      </p:sp>
      <p:sp>
        <p:nvSpPr>
          <p:cNvPr id="21" name="Shape 19"/>
          <p:cNvSpPr/>
          <p:nvPr/>
        </p:nvSpPr>
        <p:spPr>
          <a:xfrm>
            <a:off x="228600" y="4133088"/>
            <a:ext cx="1402804" cy="676656"/>
          </a:xfrm>
          <a:prstGeom prst="rect">
            <a:avLst/>
          </a:prstGeom>
          <a:solidFill>
            <a:srgbClr val="F5C2BC"/>
          </a:solidFill>
          <a:ln w="9525">
            <a:solidFill>
              <a:srgbClr val="F5C2BC"/>
            </a:solidFill>
            <a:prstDash val="solid"/>
          </a:ln>
        </p:spPr>
        <p:txBody>
          <a:bodyPr/>
          <a:lstStyle/>
          <a:p>
            <a:endParaRPr lang="en-GB"/>
          </a:p>
        </p:txBody>
      </p:sp>
      <p:sp>
        <p:nvSpPr>
          <p:cNvPr id="22" name="Text 20"/>
          <p:cNvSpPr/>
          <p:nvPr/>
        </p:nvSpPr>
        <p:spPr>
          <a:xfrm>
            <a:off x="274320"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External partnerships and positioning</a:t>
            </a:r>
            <a:endParaRPr lang="en-US" sz="780" dirty="0"/>
          </a:p>
        </p:txBody>
      </p:sp>
      <p:sp>
        <p:nvSpPr>
          <p:cNvPr id="23" name="Shape 21"/>
          <p:cNvSpPr/>
          <p:nvPr/>
        </p:nvSpPr>
        <p:spPr>
          <a:xfrm>
            <a:off x="228600" y="4855464"/>
            <a:ext cx="1402804" cy="676656"/>
          </a:xfrm>
          <a:prstGeom prst="rect">
            <a:avLst/>
          </a:prstGeom>
          <a:solidFill>
            <a:srgbClr val="E0837B"/>
          </a:solidFill>
          <a:ln w="9525">
            <a:solidFill>
              <a:srgbClr val="E0837B"/>
            </a:solidFill>
            <a:prstDash val="solid"/>
          </a:ln>
        </p:spPr>
        <p:txBody>
          <a:bodyPr/>
          <a:lstStyle/>
          <a:p>
            <a:endParaRPr lang="en-GB"/>
          </a:p>
        </p:txBody>
      </p:sp>
      <p:sp>
        <p:nvSpPr>
          <p:cNvPr id="24" name="Text 22"/>
          <p:cNvSpPr/>
          <p:nvPr/>
        </p:nvSpPr>
        <p:spPr>
          <a:xfrm>
            <a:off x="274320"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External environment and political change</a:t>
            </a:r>
            <a:endParaRPr lang="en-US" sz="780" dirty="0"/>
          </a:p>
        </p:txBody>
      </p:sp>
      <p:sp>
        <p:nvSpPr>
          <p:cNvPr id="25" name="Shape 23"/>
          <p:cNvSpPr/>
          <p:nvPr/>
        </p:nvSpPr>
        <p:spPr>
          <a:xfrm>
            <a:off x="1704556" y="1353312"/>
            <a:ext cx="1402804" cy="566928"/>
          </a:xfrm>
          <a:prstGeom prst="rect">
            <a:avLst/>
          </a:prstGeom>
          <a:solidFill>
            <a:srgbClr val="DA291C"/>
          </a:solidFill>
          <a:ln/>
        </p:spPr>
        <p:txBody>
          <a:bodyPr/>
          <a:lstStyle/>
          <a:p>
            <a:endParaRPr lang="en-GB"/>
          </a:p>
        </p:txBody>
      </p:sp>
      <p:sp>
        <p:nvSpPr>
          <p:cNvPr id="26" name="Text 24"/>
          <p:cNvSpPr/>
          <p:nvPr/>
        </p:nvSpPr>
        <p:spPr>
          <a:xfrm>
            <a:off x="1759420"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Fellowship Programme</a:t>
            </a:r>
            <a:endParaRPr lang="en-US" sz="850" dirty="0"/>
          </a:p>
        </p:txBody>
      </p:sp>
      <p:sp>
        <p:nvSpPr>
          <p:cNvPr id="27" name="Shape 25"/>
          <p:cNvSpPr/>
          <p:nvPr/>
        </p:nvSpPr>
        <p:spPr>
          <a:xfrm>
            <a:off x="1704556" y="1965960"/>
            <a:ext cx="1402804" cy="676656"/>
          </a:xfrm>
          <a:prstGeom prst="rect">
            <a:avLst/>
          </a:prstGeom>
          <a:solidFill>
            <a:srgbClr val="A81B12"/>
          </a:solidFill>
          <a:ln w="9525">
            <a:solidFill>
              <a:srgbClr val="A81B12"/>
            </a:solidFill>
            <a:prstDash val="solid"/>
          </a:ln>
        </p:spPr>
        <p:txBody>
          <a:bodyPr/>
          <a:lstStyle/>
          <a:p>
            <a:endParaRPr lang="en-GB"/>
          </a:p>
        </p:txBody>
      </p:sp>
      <p:sp>
        <p:nvSpPr>
          <p:cNvPr id="28" name="Text 26"/>
          <p:cNvSpPr/>
          <p:nvPr/>
        </p:nvSpPr>
        <p:spPr>
          <a:xfrm>
            <a:off x="1750276" y="1965960"/>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Fair and equitable Fellowship selection</a:t>
            </a:r>
            <a:endParaRPr lang="en-US" sz="780" dirty="0"/>
          </a:p>
        </p:txBody>
      </p:sp>
      <p:sp>
        <p:nvSpPr>
          <p:cNvPr id="29" name="Shape 27"/>
          <p:cNvSpPr/>
          <p:nvPr/>
        </p:nvSpPr>
        <p:spPr>
          <a:xfrm>
            <a:off x="1704556" y="2688336"/>
            <a:ext cx="1402804" cy="676656"/>
          </a:xfrm>
          <a:prstGeom prst="rect">
            <a:avLst/>
          </a:prstGeom>
          <a:solidFill>
            <a:srgbClr val="A81B12"/>
          </a:solidFill>
          <a:ln w="9525">
            <a:solidFill>
              <a:srgbClr val="A81B12"/>
            </a:solidFill>
            <a:prstDash val="solid"/>
          </a:ln>
        </p:spPr>
        <p:txBody>
          <a:bodyPr/>
          <a:lstStyle/>
          <a:p>
            <a:endParaRPr lang="en-GB"/>
          </a:p>
        </p:txBody>
      </p:sp>
      <p:sp>
        <p:nvSpPr>
          <p:cNvPr id="30" name="Text 28"/>
          <p:cNvSpPr/>
          <p:nvPr/>
        </p:nvSpPr>
        <p:spPr>
          <a:xfrm>
            <a:off x="1750276" y="2688336"/>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Fellow safety and security overseas</a:t>
            </a:r>
            <a:endParaRPr lang="en-US" sz="780" dirty="0"/>
          </a:p>
        </p:txBody>
      </p:sp>
      <p:sp>
        <p:nvSpPr>
          <p:cNvPr id="31" name="Shape 29"/>
          <p:cNvSpPr/>
          <p:nvPr/>
        </p:nvSpPr>
        <p:spPr>
          <a:xfrm>
            <a:off x="1704556" y="3410712"/>
            <a:ext cx="1402804" cy="676656"/>
          </a:xfrm>
          <a:prstGeom prst="rect">
            <a:avLst/>
          </a:prstGeom>
          <a:solidFill>
            <a:srgbClr val="A81B12"/>
          </a:solidFill>
          <a:ln w="9525">
            <a:solidFill>
              <a:srgbClr val="A81B12"/>
            </a:solidFill>
            <a:prstDash val="solid"/>
          </a:ln>
        </p:spPr>
        <p:txBody>
          <a:bodyPr/>
          <a:lstStyle/>
          <a:p>
            <a:endParaRPr lang="en-GB"/>
          </a:p>
        </p:txBody>
      </p:sp>
      <p:sp>
        <p:nvSpPr>
          <p:cNvPr id="32" name="Text 30"/>
          <p:cNvSpPr/>
          <p:nvPr/>
        </p:nvSpPr>
        <p:spPr>
          <a:xfrm>
            <a:off x="1750276" y="3410712"/>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Safeguarding</a:t>
            </a:r>
            <a:endParaRPr lang="en-US" sz="780" dirty="0"/>
          </a:p>
        </p:txBody>
      </p:sp>
      <p:sp>
        <p:nvSpPr>
          <p:cNvPr id="33" name="Shape 31"/>
          <p:cNvSpPr/>
          <p:nvPr/>
        </p:nvSpPr>
        <p:spPr>
          <a:xfrm>
            <a:off x="1704556" y="4133088"/>
            <a:ext cx="1402804" cy="676656"/>
          </a:xfrm>
          <a:prstGeom prst="rect">
            <a:avLst/>
          </a:prstGeom>
          <a:solidFill>
            <a:srgbClr val="E0837B"/>
          </a:solidFill>
          <a:ln w="9525">
            <a:solidFill>
              <a:srgbClr val="E0837B"/>
            </a:solidFill>
            <a:prstDash val="solid"/>
          </a:ln>
        </p:spPr>
        <p:txBody>
          <a:bodyPr/>
          <a:lstStyle/>
          <a:p>
            <a:endParaRPr lang="en-GB"/>
          </a:p>
        </p:txBody>
      </p:sp>
      <p:sp>
        <p:nvSpPr>
          <p:cNvPr id="34" name="Text 32"/>
          <p:cNvSpPr/>
          <p:nvPr/>
        </p:nvSpPr>
        <p:spPr>
          <a:xfrm>
            <a:off x="1750276"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Grant management and Activate delivery</a:t>
            </a:r>
            <a:endParaRPr lang="en-US" sz="780" dirty="0"/>
          </a:p>
        </p:txBody>
      </p:sp>
      <p:sp>
        <p:nvSpPr>
          <p:cNvPr id="35" name="Shape 33"/>
          <p:cNvSpPr/>
          <p:nvPr/>
        </p:nvSpPr>
        <p:spPr>
          <a:xfrm>
            <a:off x="3180512" y="1353312"/>
            <a:ext cx="1402804" cy="566928"/>
          </a:xfrm>
          <a:prstGeom prst="rect">
            <a:avLst/>
          </a:prstGeom>
          <a:solidFill>
            <a:srgbClr val="DA291C"/>
          </a:solidFill>
          <a:ln/>
        </p:spPr>
        <p:txBody>
          <a:bodyPr/>
          <a:lstStyle/>
          <a:p>
            <a:endParaRPr lang="en-GB"/>
          </a:p>
        </p:txBody>
      </p:sp>
      <p:sp>
        <p:nvSpPr>
          <p:cNvPr id="36" name="Text 34"/>
          <p:cNvSpPr/>
          <p:nvPr/>
        </p:nvSpPr>
        <p:spPr>
          <a:xfrm>
            <a:off x="3235376"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Engagement &amp; Reputation</a:t>
            </a:r>
            <a:endParaRPr lang="en-US" sz="850" dirty="0"/>
          </a:p>
        </p:txBody>
      </p:sp>
      <p:sp>
        <p:nvSpPr>
          <p:cNvPr id="37" name="Shape 35"/>
          <p:cNvSpPr/>
          <p:nvPr/>
        </p:nvSpPr>
        <p:spPr>
          <a:xfrm>
            <a:off x="3180512" y="1965960"/>
            <a:ext cx="1402804" cy="676656"/>
          </a:xfrm>
          <a:prstGeom prst="rect">
            <a:avLst/>
          </a:prstGeom>
          <a:solidFill>
            <a:srgbClr val="F5C2BC"/>
          </a:solidFill>
          <a:ln w="9525">
            <a:solidFill>
              <a:srgbClr val="F5C2BC"/>
            </a:solidFill>
            <a:prstDash val="solid"/>
          </a:ln>
        </p:spPr>
        <p:txBody>
          <a:bodyPr/>
          <a:lstStyle/>
          <a:p>
            <a:endParaRPr lang="en-GB"/>
          </a:p>
        </p:txBody>
      </p:sp>
      <p:sp>
        <p:nvSpPr>
          <p:cNvPr id="38" name="Text 36"/>
          <p:cNvSpPr/>
          <p:nvPr/>
        </p:nvSpPr>
        <p:spPr>
          <a:xfrm>
            <a:off x="3226232" y="196596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Programme and theme design</a:t>
            </a:r>
            <a:endParaRPr lang="en-US" sz="780" dirty="0"/>
          </a:p>
        </p:txBody>
      </p:sp>
      <p:sp>
        <p:nvSpPr>
          <p:cNvPr id="39" name="Shape 37"/>
          <p:cNvSpPr/>
          <p:nvPr/>
        </p:nvSpPr>
        <p:spPr>
          <a:xfrm>
            <a:off x="3180512" y="2688336"/>
            <a:ext cx="1402804" cy="676656"/>
          </a:xfrm>
          <a:prstGeom prst="rect">
            <a:avLst/>
          </a:prstGeom>
          <a:solidFill>
            <a:srgbClr val="E0837B"/>
          </a:solidFill>
          <a:ln w="9525">
            <a:solidFill>
              <a:srgbClr val="E0837B"/>
            </a:solidFill>
            <a:prstDash val="solid"/>
          </a:ln>
        </p:spPr>
        <p:txBody>
          <a:bodyPr/>
          <a:lstStyle/>
          <a:p>
            <a:endParaRPr lang="en-GB"/>
          </a:p>
        </p:txBody>
      </p:sp>
      <p:sp>
        <p:nvSpPr>
          <p:cNvPr id="40" name="Text 38"/>
          <p:cNvSpPr/>
          <p:nvPr/>
        </p:nvSpPr>
        <p:spPr>
          <a:xfrm>
            <a:off x="3226232" y="268833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Brand and reputation, incl. sensitive programme areas</a:t>
            </a:r>
            <a:endParaRPr lang="en-US" sz="780" dirty="0"/>
          </a:p>
        </p:txBody>
      </p:sp>
      <p:sp>
        <p:nvSpPr>
          <p:cNvPr id="41" name="Shape 39"/>
          <p:cNvSpPr/>
          <p:nvPr/>
        </p:nvSpPr>
        <p:spPr>
          <a:xfrm>
            <a:off x="3180512" y="3410712"/>
            <a:ext cx="1402804" cy="676656"/>
          </a:xfrm>
          <a:prstGeom prst="rect">
            <a:avLst/>
          </a:prstGeom>
          <a:solidFill>
            <a:srgbClr val="E0837B"/>
          </a:solidFill>
          <a:ln w="9525">
            <a:solidFill>
              <a:srgbClr val="E0837B"/>
            </a:solidFill>
            <a:prstDash val="solid"/>
          </a:ln>
        </p:spPr>
        <p:txBody>
          <a:bodyPr/>
          <a:lstStyle/>
          <a:p>
            <a:endParaRPr lang="en-GB"/>
          </a:p>
        </p:txBody>
      </p:sp>
      <p:sp>
        <p:nvSpPr>
          <p:cNvPr id="42" name="Text 40"/>
          <p:cNvSpPr/>
          <p:nvPr/>
        </p:nvSpPr>
        <p:spPr>
          <a:xfrm>
            <a:off x="3226232" y="34107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Media and crisis communications</a:t>
            </a:r>
            <a:endParaRPr lang="en-US" sz="780" dirty="0"/>
          </a:p>
        </p:txBody>
      </p:sp>
      <p:sp>
        <p:nvSpPr>
          <p:cNvPr id="43" name="Shape 41"/>
          <p:cNvSpPr/>
          <p:nvPr/>
        </p:nvSpPr>
        <p:spPr>
          <a:xfrm>
            <a:off x="3180512" y="4133088"/>
            <a:ext cx="1402804" cy="676656"/>
          </a:xfrm>
          <a:prstGeom prst="rect">
            <a:avLst/>
          </a:prstGeom>
          <a:solidFill>
            <a:srgbClr val="F5C2BC"/>
          </a:solidFill>
          <a:ln w="9525">
            <a:solidFill>
              <a:srgbClr val="F5C2BC"/>
            </a:solidFill>
            <a:prstDash val="solid"/>
          </a:ln>
        </p:spPr>
        <p:txBody>
          <a:bodyPr/>
          <a:lstStyle/>
          <a:p>
            <a:endParaRPr lang="en-GB"/>
          </a:p>
        </p:txBody>
      </p:sp>
      <p:sp>
        <p:nvSpPr>
          <p:cNvPr id="44" name="Text 42"/>
          <p:cNvSpPr/>
          <p:nvPr/>
        </p:nvSpPr>
        <p:spPr>
          <a:xfrm>
            <a:off x="3226232"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Fellow engagement and network experience</a:t>
            </a:r>
            <a:endParaRPr lang="en-US" sz="780" dirty="0"/>
          </a:p>
        </p:txBody>
      </p:sp>
      <p:sp>
        <p:nvSpPr>
          <p:cNvPr id="45" name="Shape 43"/>
          <p:cNvSpPr/>
          <p:nvPr/>
        </p:nvSpPr>
        <p:spPr>
          <a:xfrm>
            <a:off x="3180512" y="4855464"/>
            <a:ext cx="1402804" cy="676656"/>
          </a:xfrm>
          <a:prstGeom prst="rect">
            <a:avLst/>
          </a:prstGeom>
          <a:solidFill>
            <a:srgbClr val="F5C2BC"/>
          </a:solidFill>
          <a:ln w="9525">
            <a:solidFill>
              <a:srgbClr val="F5C2BC"/>
            </a:solidFill>
            <a:prstDash val="solid"/>
          </a:ln>
        </p:spPr>
        <p:txBody>
          <a:bodyPr/>
          <a:lstStyle/>
          <a:p>
            <a:endParaRPr lang="en-GB"/>
          </a:p>
        </p:txBody>
      </p:sp>
      <p:sp>
        <p:nvSpPr>
          <p:cNvPr id="46" name="Text 44"/>
          <p:cNvSpPr/>
          <p:nvPr/>
        </p:nvSpPr>
        <p:spPr>
          <a:xfrm>
            <a:off x="3226232"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Events and convening</a:t>
            </a:r>
            <a:endParaRPr lang="en-US" sz="780" dirty="0"/>
          </a:p>
        </p:txBody>
      </p:sp>
      <p:sp>
        <p:nvSpPr>
          <p:cNvPr id="47" name="Shape 45"/>
          <p:cNvSpPr/>
          <p:nvPr/>
        </p:nvSpPr>
        <p:spPr>
          <a:xfrm>
            <a:off x="3180512" y="5577840"/>
            <a:ext cx="1402804" cy="676656"/>
          </a:xfrm>
          <a:prstGeom prst="rect">
            <a:avLst/>
          </a:prstGeom>
          <a:solidFill>
            <a:srgbClr val="E0837B"/>
          </a:solidFill>
          <a:ln w="9525">
            <a:solidFill>
              <a:srgbClr val="E0837B"/>
            </a:solidFill>
            <a:prstDash val="solid"/>
          </a:ln>
        </p:spPr>
        <p:txBody>
          <a:bodyPr/>
          <a:lstStyle/>
          <a:p>
            <a:endParaRPr lang="en-GB"/>
          </a:p>
        </p:txBody>
      </p:sp>
      <p:sp>
        <p:nvSpPr>
          <p:cNvPr id="48" name="Text 46"/>
          <p:cNvSpPr/>
          <p:nvPr/>
        </p:nvSpPr>
        <p:spPr>
          <a:xfrm>
            <a:off x="3226232" y="55778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Knowledge curation and content accuracy</a:t>
            </a:r>
            <a:endParaRPr lang="en-US" sz="780" dirty="0"/>
          </a:p>
        </p:txBody>
      </p:sp>
      <p:sp>
        <p:nvSpPr>
          <p:cNvPr id="49" name="Shape 47"/>
          <p:cNvSpPr/>
          <p:nvPr/>
        </p:nvSpPr>
        <p:spPr>
          <a:xfrm>
            <a:off x="4656468" y="1353312"/>
            <a:ext cx="1402804" cy="566928"/>
          </a:xfrm>
          <a:prstGeom prst="rect">
            <a:avLst/>
          </a:prstGeom>
          <a:solidFill>
            <a:srgbClr val="DA291C"/>
          </a:solidFill>
          <a:ln/>
        </p:spPr>
        <p:txBody>
          <a:bodyPr/>
          <a:lstStyle/>
          <a:p>
            <a:endParaRPr lang="en-GB"/>
          </a:p>
        </p:txBody>
      </p:sp>
      <p:sp>
        <p:nvSpPr>
          <p:cNvPr id="50" name="Text 48"/>
          <p:cNvSpPr/>
          <p:nvPr/>
        </p:nvSpPr>
        <p:spPr>
          <a:xfrm>
            <a:off x="4711332"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Fundraising</a:t>
            </a:r>
            <a:endParaRPr lang="en-US" sz="850" dirty="0"/>
          </a:p>
        </p:txBody>
      </p:sp>
      <p:sp>
        <p:nvSpPr>
          <p:cNvPr id="51" name="Shape 49"/>
          <p:cNvSpPr/>
          <p:nvPr/>
        </p:nvSpPr>
        <p:spPr>
          <a:xfrm>
            <a:off x="4656468" y="1965960"/>
            <a:ext cx="1402804" cy="676656"/>
          </a:xfrm>
          <a:prstGeom prst="rect">
            <a:avLst/>
          </a:prstGeom>
          <a:solidFill>
            <a:srgbClr val="FFFFFF"/>
          </a:solidFill>
          <a:ln w="15875">
            <a:solidFill>
              <a:srgbClr val="DA291C"/>
            </a:solidFill>
            <a:prstDash val="solid"/>
          </a:ln>
        </p:spPr>
        <p:txBody>
          <a:bodyPr/>
          <a:lstStyle/>
          <a:p>
            <a:endParaRPr lang="en-GB"/>
          </a:p>
        </p:txBody>
      </p:sp>
      <p:sp>
        <p:nvSpPr>
          <p:cNvPr id="52" name="Text 50"/>
          <p:cNvSpPr/>
          <p:nvPr/>
        </p:nvSpPr>
        <p:spPr>
          <a:xfrm>
            <a:off x="4702188" y="1965960"/>
            <a:ext cx="1311364" cy="676656"/>
          </a:xfrm>
          <a:prstGeom prst="rect">
            <a:avLst/>
          </a:prstGeom>
          <a:noFill/>
          <a:ln/>
        </p:spPr>
        <p:txBody>
          <a:bodyPr wrap="square" lIns="0" tIns="0" rIns="0" bIns="0" rtlCol="0" anchor="ctr"/>
          <a:lstStyle/>
          <a:p>
            <a:pPr marL="0" indent="0" algn="ctr">
              <a:buNone/>
            </a:pPr>
            <a:r>
              <a:rPr lang="en-US" sz="780" dirty="0">
                <a:solidFill>
                  <a:srgbClr val="DA291C"/>
                </a:solidFill>
                <a:latin typeface="Arial" pitchFamily="34" charset="0"/>
                <a:ea typeface="Arial" pitchFamily="34" charset="-122"/>
                <a:cs typeface="Arial" pitchFamily="34" charset="-120"/>
              </a:rPr>
              <a:t>Fundraising innovation and new income streams</a:t>
            </a:r>
            <a:endParaRPr lang="en-US" sz="780" dirty="0"/>
          </a:p>
        </p:txBody>
      </p:sp>
      <p:sp>
        <p:nvSpPr>
          <p:cNvPr id="53" name="Shape 51"/>
          <p:cNvSpPr/>
          <p:nvPr/>
        </p:nvSpPr>
        <p:spPr>
          <a:xfrm>
            <a:off x="4656468" y="2688336"/>
            <a:ext cx="1402804" cy="676656"/>
          </a:xfrm>
          <a:prstGeom prst="rect">
            <a:avLst/>
          </a:prstGeom>
          <a:solidFill>
            <a:srgbClr val="E0837B"/>
          </a:solidFill>
          <a:ln w="9525">
            <a:solidFill>
              <a:srgbClr val="E0837B"/>
            </a:solidFill>
            <a:prstDash val="solid"/>
          </a:ln>
        </p:spPr>
        <p:txBody>
          <a:bodyPr/>
          <a:lstStyle/>
          <a:p>
            <a:endParaRPr lang="en-GB"/>
          </a:p>
        </p:txBody>
      </p:sp>
      <p:sp>
        <p:nvSpPr>
          <p:cNvPr id="54" name="Text 52"/>
          <p:cNvSpPr/>
          <p:nvPr/>
        </p:nvSpPr>
        <p:spPr>
          <a:xfrm>
            <a:off x="4702188" y="268833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Income concentration and pipeline resilience</a:t>
            </a:r>
            <a:endParaRPr lang="en-US" sz="780" dirty="0"/>
          </a:p>
        </p:txBody>
      </p:sp>
      <p:sp>
        <p:nvSpPr>
          <p:cNvPr id="55" name="Shape 53"/>
          <p:cNvSpPr/>
          <p:nvPr/>
        </p:nvSpPr>
        <p:spPr>
          <a:xfrm>
            <a:off x="4656468" y="3410712"/>
            <a:ext cx="1402804" cy="676656"/>
          </a:xfrm>
          <a:prstGeom prst="rect">
            <a:avLst/>
          </a:prstGeom>
          <a:solidFill>
            <a:srgbClr val="A81B12"/>
          </a:solidFill>
          <a:ln w="9525">
            <a:solidFill>
              <a:srgbClr val="A81B12"/>
            </a:solidFill>
            <a:prstDash val="solid"/>
          </a:ln>
        </p:spPr>
        <p:txBody>
          <a:bodyPr/>
          <a:lstStyle/>
          <a:p>
            <a:endParaRPr lang="en-GB"/>
          </a:p>
        </p:txBody>
      </p:sp>
      <p:sp>
        <p:nvSpPr>
          <p:cNvPr id="56" name="Text 54"/>
          <p:cNvSpPr/>
          <p:nvPr/>
        </p:nvSpPr>
        <p:spPr>
          <a:xfrm>
            <a:off x="4702188" y="3410712"/>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Donor due diligence and ethical acceptance</a:t>
            </a:r>
            <a:endParaRPr lang="en-US" sz="780" dirty="0"/>
          </a:p>
        </p:txBody>
      </p:sp>
      <p:sp>
        <p:nvSpPr>
          <p:cNvPr id="57" name="Shape 55"/>
          <p:cNvSpPr/>
          <p:nvPr/>
        </p:nvSpPr>
        <p:spPr>
          <a:xfrm>
            <a:off x="4656468" y="4133088"/>
            <a:ext cx="1402804" cy="676656"/>
          </a:xfrm>
          <a:prstGeom prst="rect">
            <a:avLst/>
          </a:prstGeom>
          <a:solidFill>
            <a:srgbClr val="A81B12"/>
          </a:solidFill>
          <a:ln w="9525">
            <a:solidFill>
              <a:srgbClr val="A81B12"/>
            </a:solidFill>
            <a:prstDash val="solid"/>
          </a:ln>
        </p:spPr>
        <p:txBody>
          <a:bodyPr/>
          <a:lstStyle/>
          <a:p>
            <a:endParaRPr lang="en-GB"/>
          </a:p>
        </p:txBody>
      </p:sp>
      <p:sp>
        <p:nvSpPr>
          <p:cNvPr id="58" name="Text 56"/>
          <p:cNvSpPr/>
          <p:nvPr/>
        </p:nvSpPr>
        <p:spPr>
          <a:xfrm>
            <a:off x="4702188" y="4133088"/>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Restricted funds and donor compliance</a:t>
            </a:r>
            <a:endParaRPr lang="en-US" sz="780" dirty="0"/>
          </a:p>
        </p:txBody>
      </p:sp>
      <p:sp>
        <p:nvSpPr>
          <p:cNvPr id="59" name="Shape 57"/>
          <p:cNvSpPr/>
          <p:nvPr/>
        </p:nvSpPr>
        <p:spPr>
          <a:xfrm>
            <a:off x="4656468" y="4855464"/>
            <a:ext cx="1402804" cy="676656"/>
          </a:xfrm>
          <a:prstGeom prst="rect">
            <a:avLst/>
          </a:prstGeom>
          <a:solidFill>
            <a:srgbClr val="F5C2BC"/>
          </a:solidFill>
          <a:ln w="9525">
            <a:solidFill>
              <a:srgbClr val="F5C2BC"/>
            </a:solidFill>
            <a:prstDash val="solid"/>
          </a:ln>
        </p:spPr>
        <p:txBody>
          <a:bodyPr/>
          <a:lstStyle/>
          <a:p>
            <a:endParaRPr lang="en-GB"/>
          </a:p>
        </p:txBody>
      </p:sp>
      <p:sp>
        <p:nvSpPr>
          <p:cNvPr id="60" name="Text 58"/>
          <p:cNvSpPr/>
          <p:nvPr/>
        </p:nvSpPr>
        <p:spPr>
          <a:xfrm>
            <a:off x="4702188"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Activate funding and donor cannibalisation</a:t>
            </a:r>
            <a:endParaRPr lang="en-US" sz="780" dirty="0"/>
          </a:p>
        </p:txBody>
      </p:sp>
      <p:sp>
        <p:nvSpPr>
          <p:cNvPr id="61" name="Shape 59"/>
          <p:cNvSpPr/>
          <p:nvPr/>
        </p:nvSpPr>
        <p:spPr>
          <a:xfrm>
            <a:off x="4656468" y="5577840"/>
            <a:ext cx="1402804" cy="676656"/>
          </a:xfrm>
          <a:prstGeom prst="rect">
            <a:avLst/>
          </a:prstGeom>
          <a:solidFill>
            <a:srgbClr val="F5C2BC"/>
          </a:solidFill>
          <a:ln w="9525">
            <a:solidFill>
              <a:srgbClr val="F5C2BC"/>
            </a:solidFill>
            <a:prstDash val="solid"/>
          </a:ln>
        </p:spPr>
        <p:txBody>
          <a:bodyPr/>
          <a:lstStyle/>
          <a:p>
            <a:endParaRPr lang="en-GB"/>
          </a:p>
        </p:txBody>
      </p:sp>
      <p:sp>
        <p:nvSpPr>
          <p:cNvPr id="62" name="Text 60"/>
          <p:cNvSpPr/>
          <p:nvPr/>
        </p:nvSpPr>
        <p:spPr>
          <a:xfrm>
            <a:off x="4702188" y="557784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Case for support and impact evidence</a:t>
            </a:r>
            <a:endParaRPr lang="en-US" sz="780" dirty="0"/>
          </a:p>
        </p:txBody>
      </p:sp>
      <p:sp>
        <p:nvSpPr>
          <p:cNvPr id="63" name="Shape 61"/>
          <p:cNvSpPr/>
          <p:nvPr/>
        </p:nvSpPr>
        <p:spPr>
          <a:xfrm>
            <a:off x="6132424" y="1353312"/>
            <a:ext cx="1402804" cy="566928"/>
          </a:xfrm>
          <a:prstGeom prst="rect">
            <a:avLst/>
          </a:prstGeom>
          <a:solidFill>
            <a:srgbClr val="DA291C"/>
          </a:solidFill>
          <a:ln/>
        </p:spPr>
        <p:txBody>
          <a:bodyPr/>
          <a:lstStyle/>
          <a:p>
            <a:endParaRPr lang="en-GB"/>
          </a:p>
        </p:txBody>
      </p:sp>
      <p:sp>
        <p:nvSpPr>
          <p:cNvPr id="64" name="Text 62"/>
          <p:cNvSpPr/>
          <p:nvPr/>
        </p:nvSpPr>
        <p:spPr>
          <a:xfrm>
            <a:off x="6187288"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Finance &amp; Endowment</a:t>
            </a:r>
            <a:endParaRPr lang="en-US" sz="850" dirty="0"/>
          </a:p>
        </p:txBody>
      </p:sp>
      <p:sp>
        <p:nvSpPr>
          <p:cNvPr id="65" name="Shape 63"/>
          <p:cNvSpPr/>
          <p:nvPr/>
        </p:nvSpPr>
        <p:spPr>
          <a:xfrm>
            <a:off x="6132424" y="1965960"/>
            <a:ext cx="1402804" cy="676656"/>
          </a:xfrm>
          <a:prstGeom prst="rect">
            <a:avLst/>
          </a:prstGeom>
          <a:solidFill>
            <a:srgbClr val="F5C2BC"/>
          </a:solidFill>
          <a:ln w="9525">
            <a:solidFill>
              <a:srgbClr val="F5C2BC"/>
            </a:solidFill>
            <a:prstDash val="solid"/>
          </a:ln>
        </p:spPr>
        <p:txBody>
          <a:bodyPr/>
          <a:lstStyle/>
          <a:p>
            <a:endParaRPr lang="en-GB"/>
          </a:p>
        </p:txBody>
      </p:sp>
      <p:sp>
        <p:nvSpPr>
          <p:cNvPr id="66" name="Text 64"/>
          <p:cNvSpPr/>
          <p:nvPr/>
        </p:nvSpPr>
        <p:spPr>
          <a:xfrm>
            <a:off x="6178144" y="196596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Endowment performance and drawdown</a:t>
            </a:r>
            <a:endParaRPr lang="en-US" sz="780" dirty="0"/>
          </a:p>
        </p:txBody>
      </p:sp>
      <p:sp>
        <p:nvSpPr>
          <p:cNvPr id="67" name="Shape 65"/>
          <p:cNvSpPr/>
          <p:nvPr/>
        </p:nvSpPr>
        <p:spPr>
          <a:xfrm>
            <a:off x="6132424" y="2688336"/>
            <a:ext cx="1402804" cy="676656"/>
          </a:xfrm>
          <a:prstGeom prst="rect">
            <a:avLst/>
          </a:prstGeom>
          <a:solidFill>
            <a:srgbClr val="A81B12"/>
          </a:solidFill>
          <a:ln w="9525">
            <a:solidFill>
              <a:srgbClr val="A81B12"/>
            </a:solidFill>
            <a:prstDash val="solid"/>
          </a:ln>
        </p:spPr>
        <p:txBody>
          <a:bodyPr/>
          <a:lstStyle/>
          <a:p>
            <a:endParaRPr lang="en-GB"/>
          </a:p>
        </p:txBody>
      </p:sp>
      <p:sp>
        <p:nvSpPr>
          <p:cNvPr id="68" name="Text 66"/>
          <p:cNvSpPr/>
          <p:nvPr/>
        </p:nvSpPr>
        <p:spPr>
          <a:xfrm>
            <a:off x="6178144" y="2688336"/>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Liquidity, reserves and solvency</a:t>
            </a:r>
            <a:endParaRPr lang="en-US" sz="780" dirty="0"/>
          </a:p>
        </p:txBody>
      </p:sp>
      <p:sp>
        <p:nvSpPr>
          <p:cNvPr id="69" name="Shape 67"/>
          <p:cNvSpPr/>
          <p:nvPr/>
        </p:nvSpPr>
        <p:spPr>
          <a:xfrm>
            <a:off x="6132424" y="3410712"/>
            <a:ext cx="1402804" cy="676656"/>
          </a:xfrm>
          <a:prstGeom prst="rect">
            <a:avLst/>
          </a:prstGeom>
          <a:solidFill>
            <a:srgbClr val="E0837B"/>
          </a:solidFill>
          <a:ln w="9525">
            <a:solidFill>
              <a:srgbClr val="E0837B"/>
            </a:solidFill>
            <a:prstDash val="solid"/>
          </a:ln>
        </p:spPr>
        <p:txBody>
          <a:bodyPr/>
          <a:lstStyle/>
          <a:p>
            <a:endParaRPr lang="en-GB"/>
          </a:p>
        </p:txBody>
      </p:sp>
      <p:sp>
        <p:nvSpPr>
          <p:cNvPr id="70" name="Text 68"/>
          <p:cNvSpPr/>
          <p:nvPr/>
        </p:nvSpPr>
        <p:spPr>
          <a:xfrm>
            <a:off x="6178144" y="34107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Budgeting, forecasting and reporting</a:t>
            </a:r>
            <a:endParaRPr lang="en-US" sz="780" dirty="0"/>
          </a:p>
        </p:txBody>
      </p:sp>
      <p:sp>
        <p:nvSpPr>
          <p:cNvPr id="71" name="Shape 69"/>
          <p:cNvSpPr/>
          <p:nvPr/>
        </p:nvSpPr>
        <p:spPr>
          <a:xfrm>
            <a:off x="6132424" y="4133088"/>
            <a:ext cx="1402804" cy="676656"/>
          </a:xfrm>
          <a:prstGeom prst="rect">
            <a:avLst/>
          </a:prstGeom>
          <a:solidFill>
            <a:srgbClr val="A81B12"/>
          </a:solidFill>
          <a:ln w="9525">
            <a:solidFill>
              <a:srgbClr val="A81B12"/>
            </a:solidFill>
            <a:prstDash val="solid"/>
          </a:ln>
        </p:spPr>
        <p:txBody>
          <a:bodyPr/>
          <a:lstStyle/>
          <a:p>
            <a:endParaRPr lang="en-GB"/>
          </a:p>
        </p:txBody>
      </p:sp>
      <p:sp>
        <p:nvSpPr>
          <p:cNvPr id="72" name="Text 70"/>
          <p:cNvSpPr/>
          <p:nvPr/>
        </p:nvSpPr>
        <p:spPr>
          <a:xfrm>
            <a:off x="6178144" y="4133088"/>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Fraud and financial crime</a:t>
            </a:r>
            <a:endParaRPr lang="en-US" sz="780" dirty="0"/>
          </a:p>
        </p:txBody>
      </p:sp>
      <p:sp>
        <p:nvSpPr>
          <p:cNvPr id="73" name="Shape 71"/>
          <p:cNvSpPr/>
          <p:nvPr/>
        </p:nvSpPr>
        <p:spPr>
          <a:xfrm>
            <a:off x="7608380" y="1353312"/>
            <a:ext cx="1402804" cy="566928"/>
          </a:xfrm>
          <a:prstGeom prst="rect">
            <a:avLst/>
          </a:prstGeom>
          <a:solidFill>
            <a:srgbClr val="DA291C"/>
          </a:solidFill>
          <a:ln/>
        </p:spPr>
        <p:txBody>
          <a:bodyPr/>
          <a:lstStyle/>
          <a:p>
            <a:endParaRPr lang="en-GB"/>
          </a:p>
        </p:txBody>
      </p:sp>
      <p:sp>
        <p:nvSpPr>
          <p:cNvPr id="74" name="Text 72"/>
          <p:cNvSpPr/>
          <p:nvPr/>
        </p:nvSpPr>
        <p:spPr>
          <a:xfrm>
            <a:off x="7663244"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People &amp; Culture</a:t>
            </a:r>
            <a:endParaRPr lang="en-US" sz="850" dirty="0"/>
          </a:p>
        </p:txBody>
      </p:sp>
      <p:sp>
        <p:nvSpPr>
          <p:cNvPr id="75" name="Shape 73"/>
          <p:cNvSpPr/>
          <p:nvPr/>
        </p:nvSpPr>
        <p:spPr>
          <a:xfrm>
            <a:off x="7608380" y="1965960"/>
            <a:ext cx="1402804" cy="676656"/>
          </a:xfrm>
          <a:prstGeom prst="rect">
            <a:avLst/>
          </a:prstGeom>
          <a:solidFill>
            <a:srgbClr val="E0837B"/>
          </a:solidFill>
          <a:ln w="9525">
            <a:solidFill>
              <a:srgbClr val="E0837B"/>
            </a:solidFill>
            <a:prstDash val="solid"/>
          </a:ln>
        </p:spPr>
        <p:txBody>
          <a:bodyPr/>
          <a:lstStyle/>
          <a:p>
            <a:endParaRPr lang="en-GB"/>
          </a:p>
        </p:txBody>
      </p:sp>
      <p:sp>
        <p:nvSpPr>
          <p:cNvPr id="76" name="Text 74"/>
          <p:cNvSpPr/>
          <p:nvPr/>
        </p:nvSpPr>
        <p:spPr>
          <a:xfrm>
            <a:off x="7654100" y="196596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Recruitment, retention and capability</a:t>
            </a:r>
            <a:endParaRPr lang="en-US" sz="780" dirty="0"/>
          </a:p>
        </p:txBody>
      </p:sp>
      <p:sp>
        <p:nvSpPr>
          <p:cNvPr id="77" name="Shape 75"/>
          <p:cNvSpPr/>
          <p:nvPr/>
        </p:nvSpPr>
        <p:spPr>
          <a:xfrm>
            <a:off x="7608380" y="2688336"/>
            <a:ext cx="1402804" cy="676656"/>
          </a:xfrm>
          <a:prstGeom prst="rect">
            <a:avLst/>
          </a:prstGeom>
          <a:solidFill>
            <a:srgbClr val="A81B12"/>
          </a:solidFill>
          <a:ln w="9525">
            <a:solidFill>
              <a:srgbClr val="A81B12"/>
            </a:solidFill>
            <a:prstDash val="solid"/>
          </a:ln>
        </p:spPr>
        <p:txBody>
          <a:bodyPr/>
          <a:lstStyle/>
          <a:p>
            <a:endParaRPr lang="en-GB"/>
          </a:p>
        </p:txBody>
      </p:sp>
      <p:sp>
        <p:nvSpPr>
          <p:cNvPr id="78" name="Text 76"/>
          <p:cNvSpPr/>
          <p:nvPr/>
        </p:nvSpPr>
        <p:spPr>
          <a:xfrm>
            <a:off x="7654100" y="2688336"/>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Wellbeing, health and safety</a:t>
            </a:r>
            <a:endParaRPr lang="en-US" sz="780" dirty="0"/>
          </a:p>
        </p:txBody>
      </p:sp>
      <p:sp>
        <p:nvSpPr>
          <p:cNvPr id="79" name="Shape 77"/>
          <p:cNvSpPr/>
          <p:nvPr/>
        </p:nvSpPr>
        <p:spPr>
          <a:xfrm>
            <a:off x="7608380" y="3410712"/>
            <a:ext cx="1402804" cy="676656"/>
          </a:xfrm>
          <a:prstGeom prst="rect">
            <a:avLst/>
          </a:prstGeom>
          <a:solidFill>
            <a:srgbClr val="E0837B"/>
          </a:solidFill>
          <a:ln w="9525">
            <a:solidFill>
              <a:srgbClr val="E0837B"/>
            </a:solidFill>
            <a:prstDash val="solid"/>
          </a:ln>
        </p:spPr>
        <p:txBody>
          <a:bodyPr/>
          <a:lstStyle/>
          <a:p>
            <a:endParaRPr lang="en-GB"/>
          </a:p>
        </p:txBody>
      </p:sp>
      <p:sp>
        <p:nvSpPr>
          <p:cNvPr id="80" name="Text 78"/>
          <p:cNvSpPr/>
          <p:nvPr/>
        </p:nvSpPr>
        <p:spPr>
          <a:xfrm>
            <a:off x="7654100" y="34107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Diversity &amp; Inclusion in our workforce</a:t>
            </a:r>
            <a:endParaRPr lang="en-US" sz="780" dirty="0"/>
          </a:p>
        </p:txBody>
      </p:sp>
      <p:sp>
        <p:nvSpPr>
          <p:cNvPr id="81" name="Shape 79"/>
          <p:cNvSpPr/>
          <p:nvPr/>
        </p:nvSpPr>
        <p:spPr>
          <a:xfrm>
            <a:off x="7608380" y="4133088"/>
            <a:ext cx="1402804" cy="676656"/>
          </a:xfrm>
          <a:prstGeom prst="rect">
            <a:avLst/>
          </a:prstGeom>
          <a:solidFill>
            <a:srgbClr val="E0837B"/>
          </a:solidFill>
          <a:ln w="9525">
            <a:solidFill>
              <a:srgbClr val="E0837B"/>
            </a:solidFill>
            <a:prstDash val="solid"/>
          </a:ln>
        </p:spPr>
        <p:txBody>
          <a:bodyPr/>
          <a:lstStyle/>
          <a:p>
            <a:endParaRPr lang="en-GB"/>
          </a:p>
        </p:txBody>
      </p:sp>
      <p:sp>
        <p:nvSpPr>
          <p:cNvPr id="82" name="Text 80"/>
          <p:cNvSpPr/>
          <p:nvPr/>
        </p:nvSpPr>
        <p:spPr>
          <a:xfrm>
            <a:off x="7654100"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Culture, capacity and change fatigue</a:t>
            </a:r>
            <a:endParaRPr lang="en-US" sz="780" dirty="0"/>
          </a:p>
        </p:txBody>
      </p:sp>
      <p:sp>
        <p:nvSpPr>
          <p:cNvPr id="83" name="Shape 81"/>
          <p:cNvSpPr/>
          <p:nvPr/>
        </p:nvSpPr>
        <p:spPr>
          <a:xfrm>
            <a:off x="7608380" y="4855464"/>
            <a:ext cx="1402804" cy="676656"/>
          </a:xfrm>
          <a:prstGeom prst="rect">
            <a:avLst/>
          </a:prstGeom>
          <a:solidFill>
            <a:srgbClr val="E0837B"/>
          </a:solidFill>
          <a:ln w="9525">
            <a:solidFill>
              <a:srgbClr val="E0837B"/>
            </a:solidFill>
            <a:prstDash val="solid"/>
          </a:ln>
        </p:spPr>
        <p:txBody>
          <a:bodyPr/>
          <a:lstStyle/>
          <a:p>
            <a:endParaRPr lang="en-GB"/>
          </a:p>
        </p:txBody>
      </p:sp>
      <p:sp>
        <p:nvSpPr>
          <p:cNvPr id="84" name="Text 82"/>
          <p:cNvSpPr/>
          <p:nvPr/>
        </p:nvSpPr>
        <p:spPr>
          <a:xfrm>
            <a:off x="7654100"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Key person dependency</a:t>
            </a:r>
            <a:endParaRPr lang="en-US" sz="780" dirty="0"/>
          </a:p>
        </p:txBody>
      </p:sp>
      <p:sp>
        <p:nvSpPr>
          <p:cNvPr id="85" name="Shape 83"/>
          <p:cNvSpPr/>
          <p:nvPr/>
        </p:nvSpPr>
        <p:spPr>
          <a:xfrm>
            <a:off x="9084335" y="1353312"/>
            <a:ext cx="1402804" cy="566928"/>
          </a:xfrm>
          <a:prstGeom prst="rect">
            <a:avLst/>
          </a:prstGeom>
          <a:solidFill>
            <a:srgbClr val="DA291C"/>
          </a:solidFill>
          <a:ln/>
        </p:spPr>
        <p:txBody>
          <a:bodyPr/>
          <a:lstStyle/>
          <a:p>
            <a:endParaRPr lang="en-GB"/>
          </a:p>
        </p:txBody>
      </p:sp>
      <p:sp>
        <p:nvSpPr>
          <p:cNvPr id="86" name="Text 84"/>
          <p:cNvSpPr/>
          <p:nvPr/>
        </p:nvSpPr>
        <p:spPr>
          <a:xfrm>
            <a:off x="9139199"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Change &amp; Transformation</a:t>
            </a:r>
            <a:endParaRPr lang="en-US" sz="850" dirty="0"/>
          </a:p>
        </p:txBody>
      </p:sp>
      <p:sp>
        <p:nvSpPr>
          <p:cNvPr id="87" name="Shape 85"/>
          <p:cNvSpPr/>
          <p:nvPr/>
        </p:nvSpPr>
        <p:spPr>
          <a:xfrm>
            <a:off x="9084335" y="1965960"/>
            <a:ext cx="1402804" cy="676656"/>
          </a:xfrm>
          <a:prstGeom prst="rect">
            <a:avLst/>
          </a:prstGeom>
          <a:solidFill>
            <a:srgbClr val="E0837B"/>
          </a:solidFill>
          <a:ln w="9525">
            <a:solidFill>
              <a:srgbClr val="E0837B"/>
            </a:solidFill>
            <a:prstDash val="solid"/>
          </a:ln>
        </p:spPr>
        <p:txBody>
          <a:bodyPr/>
          <a:lstStyle/>
          <a:p>
            <a:endParaRPr lang="en-GB"/>
          </a:p>
        </p:txBody>
      </p:sp>
      <p:sp>
        <p:nvSpPr>
          <p:cNvPr id="88" name="Text 86"/>
          <p:cNvSpPr/>
          <p:nvPr/>
        </p:nvSpPr>
        <p:spPr>
          <a:xfrm>
            <a:off x="9130055" y="1965960"/>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Change portfolio prioritisation and sequencing</a:t>
            </a:r>
            <a:endParaRPr lang="en-US" sz="780" dirty="0"/>
          </a:p>
        </p:txBody>
      </p:sp>
      <p:sp>
        <p:nvSpPr>
          <p:cNvPr id="89" name="Shape 87"/>
          <p:cNvSpPr/>
          <p:nvPr/>
        </p:nvSpPr>
        <p:spPr>
          <a:xfrm>
            <a:off x="9084335" y="2688336"/>
            <a:ext cx="1402804" cy="676656"/>
          </a:xfrm>
          <a:prstGeom prst="rect">
            <a:avLst/>
          </a:prstGeom>
          <a:solidFill>
            <a:srgbClr val="F5C2BC"/>
          </a:solidFill>
          <a:ln w="9525">
            <a:solidFill>
              <a:srgbClr val="F5C2BC"/>
            </a:solidFill>
            <a:prstDash val="solid"/>
          </a:ln>
        </p:spPr>
        <p:txBody>
          <a:bodyPr/>
          <a:lstStyle/>
          <a:p>
            <a:endParaRPr lang="en-GB"/>
          </a:p>
        </p:txBody>
      </p:sp>
      <p:sp>
        <p:nvSpPr>
          <p:cNvPr id="90" name="Text 88"/>
          <p:cNvSpPr/>
          <p:nvPr/>
        </p:nvSpPr>
        <p:spPr>
          <a:xfrm>
            <a:off x="9130055" y="268833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Portal design, delivery and adoption</a:t>
            </a:r>
            <a:endParaRPr lang="en-US" sz="780" dirty="0"/>
          </a:p>
        </p:txBody>
      </p:sp>
      <p:sp>
        <p:nvSpPr>
          <p:cNvPr id="91" name="Shape 89"/>
          <p:cNvSpPr/>
          <p:nvPr/>
        </p:nvSpPr>
        <p:spPr>
          <a:xfrm>
            <a:off x="9084335" y="3410712"/>
            <a:ext cx="1402804" cy="676656"/>
          </a:xfrm>
          <a:prstGeom prst="rect">
            <a:avLst/>
          </a:prstGeom>
          <a:solidFill>
            <a:srgbClr val="E0837B"/>
          </a:solidFill>
          <a:ln w="9525">
            <a:solidFill>
              <a:srgbClr val="E0837B"/>
            </a:solidFill>
            <a:prstDash val="solid"/>
          </a:ln>
        </p:spPr>
        <p:txBody>
          <a:bodyPr/>
          <a:lstStyle/>
          <a:p>
            <a:endParaRPr lang="en-GB"/>
          </a:p>
        </p:txBody>
      </p:sp>
      <p:sp>
        <p:nvSpPr>
          <p:cNvPr id="92" name="Text 90"/>
          <p:cNvSpPr/>
          <p:nvPr/>
        </p:nvSpPr>
        <p:spPr>
          <a:xfrm>
            <a:off x="9130055" y="3410712"/>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Office move</a:t>
            </a:r>
            <a:endParaRPr lang="en-US" sz="780" dirty="0"/>
          </a:p>
        </p:txBody>
      </p:sp>
      <p:sp>
        <p:nvSpPr>
          <p:cNvPr id="93" name="Shape 91"/>
          <p:cNvSpPr/>
          <p:nvPr/>
        </p:nvSpPr>
        <p:spPr>
          <a:xfrm>
            <a:off x="9084335" y="4133088"/>
            <a:ext cx="1402804" cy="676656"/>
          </a:xfrm>
          <a:prstGeom prst="rect">
            <a:avLst/>
          </a:prstGeom>
          <a:solidFill>
            <a:srgbClr val="F5C2BC"/>
          </a:solidFill>
          <a:ln w="9525">
            <a:solidFill>
              <a:srgbClr val="F5C2BC"/>
            </a:solidFill>
            <a:prstDash val="solid"/>
          </a:ln>
        </p:spPr>
        <p:txBody>
          <a:bodyPr/>
          <a:lstStyle/>
          <a:p>
            <a:endParaRPr lang="en-GB"/>
          </a:p>
        </p:txBody>
      </p:sp>
      <p:sp>
        <p:nvSpPr>
          <p:cNvPr id="94" name="Text 92"/>
          <p:cNvSpPr/>
          <p:nvPr/>
        </p:nvSpPr>
        <p:spPr>
          <a:xfrm>
            <a:off x="9130055"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AI adoption and innovation</a:t>
            </a:r>
            <a:endParaRPr lang="en-US" sz="780" dirty="0"/>
          </a:p>
        </p:txBody>
      </p:sp>
      <p:sp>
        <p:nvSpPr>
          <p:cNvPr id="95" name="Shape 93"/>
          <p:cNvSpPr/>
          <p:nvPr/>
        </p:nvSpPr>
        <p:spPr>
          <a:xfrm>
            <a:off x="9084335" y="4855464"/>
            <a:ext cx="1402804" cy="676656"/>
          </a:xfrm>
          <a:prstGeom prst="rect">
            <a:avLst/>
          </a:prstGeom>
          <a:solidFill>
            <a:srgbClr val="E0837B"/>
          </a:solidFill>
          <a:ln w="9525">
            <a:solidFill>
              <a:srgbClr val="E0837B"/>
            </a:solidFill>
            <a:prstDash val="solid"/>
          </a:ln>
        </p:spPr>
        <p:txBody>
          <a:bodyPr/>
          <a:lstStyle/>
          <a:p>
            <a:endParaRPr lang="en-GB"/>
          </a:p>
        </p:txBody>
      </p:sp>
      <p:sp>
        <p:nvSpPr>
          <p:cNvPr id="96" name="Text 94"/>
          <p:cNvSpPr/>
          <p:nvPr/>
        </p:nvSpPr>
        <p:spPr>
          <a:xfrm>
            <a:off x="9130055"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Benefits realisation and ways of working</a:t>
            </a:r>
            <a:endParaRPr lang="en-US" sz="780" dirty="0"/>
          </a:p>
        </p:txBody>
      </p:sp>
      <p:sp>
        <p:nvSpPr>
          <p:cNvPr id="97" name="Shape 95"/>
          <p:cNvSpPr/>
          <p:nvPr/>
        </p:nvSpPr>
        <p:spPr>
          <a:xfrm>
            <a:off x="10560291" y="1353312"/>
            <a:ext cx="1402804" cy="566928"/>
          </a:xfrm>
          <a:prstGeom prst="rect">
            <a:avLst/>
          </a:prstGeom>
          <a:solidFill>
            <a:srgbClr val="DA291C"/>
          </a:solidFill>
          <a:ln/>
        </p:spPr>
        <p:txBody>
          <a:bodyPr/>
          <a:lstStyle/>
          <a:p>
            <a:endParaRPr lang="en-GB"/>
          </a:p>
        </p:txBody>
      </p:sp>
      <p:sp>
        <p:nvSpPr>
          <p:cNvPr id="98" name="Text 96"/>
          <p:cNvSpPr/>
          <p:nvPr/>
        </p:nvSpPr>
        <p:spPr>
          <a:xfrm>
            <a:off x="10615155" y="1353312"/>
            <a:ext cx="1293076" cy="5669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Operations, Tech &amp; Data</a:t>
            </a:r>
            <a:endParaRPr lang="en-US" sz="850" dirty="0"/>
          </a:p>
        </p:txBody>
      </p:sp>
      <p:sp>
        <p:nvSpPr>
          <p:cNvPr id="99" name="Shape 97"/>
          <p:cNvSpPr/>
          <p:nvPr/>
        </p:nvSpPr>
        <p:spPr>
          <a:xfrm>
            <a:off x="10560291" y="1965960"/>
            <a:ext cx="1402804" cy="676656"/>
          </a:xfrm>
          <a:prstGeom prst="rect">
            <a:avLst/>
          </a:prstGeom>
          <a:solidFill>
            <a:srgbClr val="A81B12"/>
          </a:solidFill>
          <a:ln w="9525">
            <a:solidFill>
              <a:srgbClr val="A81B12"/>
            </a:solidFill>
            <a:prstDash val="solid"/>
          </a:ln>
        </p:spPr>
        <p:txBody>
          <a:bodyPr/>
          <a:lstStyle/>
          <a:p>
            <a:endParaRPr lang="en-GB"/>
          </a:p>
        </p:txBody>
      </p:sp>
      <p:sp>
        <p:nvSpPr>
          <p:cNvPr id="100" name="Text 98"/>
          <p:cNvSpPr/>
          <p:nvPr/>
        </p:nvSpPr>
        <p:spPr>
          <a:xfrm>
            <a:off x="10606011" y="1965960"/>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Cyber security and IT resilience</a:t>
            </a:r>
            <a:endParaRPr lang="en-US" sz="780" dirty="0"/>
          </a:p>
        </p:txBody>
      </p:sp>
      <p:sp>
        <p:nvSpPr>
          <p:cNvPr id="101" name="Shape 99"/>
          <p:cNvSpPr/>
          <p:nvPr/>
        </p:nvSpPr>
        <p:spPr>
          <a:xfrm>
            <a:off x="10560291" y="2688336"/>
            <a:ext cx="1402804" cy="676656"/>
          </a:xfrm>
          <a:prstGeom prst="rect">
            <a:avLst/>
          </a:prstGeom>
          <a:solidFill>
            <a:srgbClr val="E0837B"/>
          </a:solidFill>
          <a:ln w="9525">
            <a:solidFill>
              <a:srgbClr val="E0837B"/>
            </a:solidFill>
            <a:prstDash val="solid"/>
          </a:ln>
        </p:spPr>
        <p:txBody>
          <a:bodyPr/>
          <a:lstStyle/>
          <a:p>
            <a:endParaRPr lang="en-GB"/>
          </a:p>
        </p:txBody>
      </p:sp>
      <p:sp>
        <p:nvSpPr>
          <p:cNvPr id="102" name="Text 100"/>
          <p:cNvSpPr/>
          <p:nvPr/>
        </p:nvSpPr>
        <p:spPr>
          <a:xfrm>
            <a:off x="10606011" y="2688336"/>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Tech system suitability, procurement, integration and data quality</a:t>
            </a:r>
            <a:endParaRPr lang="en-US" sz="780" dirty="0"/>
          </a:p>
        </p:txBody>
      </p:sp>
      <p:sp>
        <p:nvSpPr>
          <p:cNvPr id="103" name="Shape 101"/>
          <p:cNvSpPr/>
          <p:nvPr/>
        </p:nvSpPr>
        <p:spPr>
          <a:xfrm>
            <a:off x="10560291" y="3410712"/>
            <a:ext cx="1402804" cy="676656"/>
          </a:xfrm>
          <a:prstGeom prst="rect">
            <a:avLst/>
          </a:prstGeom>
          <a:solidFill>
            <a:srgbClr val="A81B12"/>
          </a:solidFill>
          <a:ln w="9525">
            <a:solidFill>
              <a:srgbClr val="A81B12"/>
            </a:solidFill>
            <a:prstDash val="solid"/>
          </a:ln>
        </p:spPr>
        <p:txBody>
          <a:bodyPr/>
          <a:lstStyle/>
          <a:p>
            <a:endParaRPr lang="en-GB"/>
          </a:p>
        </p:txBody>
      </p:sp>
      <p:sp>
        <p:nvSpPr>
          <p:cNvPr id="104" name="Text 102"/>
          <p:cNvSpPr/>
          <p:nvPr/>
        </p:nvSpPr>
        <p:spPr>
          <a:xfrm>
            <a:off x="10606011" y="3410712"/>
            <a:ext cx="1311364" cy="676656"/>
          </a:xfrm>
          <a:prstGeom prst="rect">
            <a:avLst/>
          </a:prstGeom>
          <a:noFill/>
          <a:ln/>
        </p:spPr>
        <p:txBody>
          <a:bodyPr wrap="square" lIns="0" tIns="0" rIns="0" bIns="0" rtlCol="0" anchor="ctr"/>
          <a:lstStyle/>
          <a:p>
            <a:pPr marL="0" indent="0" algn="ctr">
              <a:buNone/>
            </a:pPr>
            <a:r>
              <a:rPr lang="en-US" sz="780" dirty="0">
                <a:solidFill>
                  <a:srgbClr val="FFFFFF"/>
                </a:solidFill>
                <a:latin typeface="Arial" pitchFamily="34" charset="0"/>
                <a:ea typeface="Arial" pitchFamily="34" charset="-122"/>
                <a:cs typeface="Arial" pitchFamily="34" charset="-120"/>
              </a:rPr>
              <a:t>Data protection and privacy</a:t>
            </a:r>
            <a:endParaRPr lang="en-US" sz="780" dirty="0"/>
          </a:p>
        </p:txBody>
      </p:sp>
      <p:sp>
        <p:nvSpPr>
          <p:cNvPr id="105" name="Shape 103"/>
          <p:cNvSpPr/>
          <p:nvPr/>
        </p:nvSpPr>
        <p:spPr>
          <a:xfrm>
            <a:off x="10560291" y="4133088"/>
            <a:ext cx="1402804" cy="676656"/>
          </a:xfrm>
          <a:prstGeom prst="rect">
            <a:avLst/>
          </a:prstGeom>
          <a:solidFill>
            <a:srgbClr val="E0837B"/>
          </a:solidFill>
          <a:ln w="9525">
            <a:solidFill>
              <a:srgbClr val="E0837B"/>
            </a:solidFill>
            <a:prstDash val="solid"/>
          </a:ln>
        </p:spPr>
        <p:txBody>
          <a:bodyPr/>
          <a:lstStyle/>
          <a:p>
            <a:endParaRPr lang="en-GB"/>
          </a:p>
        </p:txBody>
      </p:sp>
      <p:sp>
        <p:nvSpPr>
          <p:cNvPr id="106" name="Text 104"/>
          <p:cNvSpPr/>
          <p:nvPr/>
        </p:nvSpPr>
        <p:spPr>
          <a:xfrm>
            <a:off x="10606011" y="4133088"/>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Facilities, business continuity and crisis management</a:t>
            </a:r>
            <a:endParaRPr lang="en-US" sz="780" dirty="0"/>
          </a:p>
        </p:txBody>
      </p:sp>
      <p:sp>
        <p:nvSpPr>
          <p:cNvPr id="107" name="Shape 105"/>
          <p:cNvSpPr/>
          <p:nvPr/>
        </p:nvSpPr>
        <p:spPr>
          <a:xfrm>
            <a:off x="10560291" y="4855464"/>
            <a:ext cx="1402804" cy="676656"/>
          </a:xfrm>
          <a:prstGeom prst="rect">
            <a:avLst/>
          </a:prstGeom>
          <a:solidFill>
            <a:srgbClr val="E0837B"/>
          </a:solidFill>
          <a:ln w="9525">
            <a:solidFill>
              <a:srgbClr val="E0837B"/>
            </a:solidFill>
            <a:prstDash val="solid"/>
          </a:ln>
        </p:spPr>
        <p:txBody>
          <a:bodyPr/>
          <a:lstStyle/>
          <a:p>
            <a:endParaRPr lang="en-GB"/>
          </a:p>
        </p:txBody>
      </p:sp>
      <p:sp>
        <p:nvSpPr>
          <p:cNvPr id="108" name="Text 106"/>
          <p:cNvSpPr/>
          <p:nvPr/>
        </p:nvSpPr>
        <p:spPr>
          <a:xfrm>
            <a:off x="10606011" y="4855464"/>
            <a:ext cx="1311364" cy="676656"/>
          </a:xfrm>
          <a:prstGeom prst="rect">
            <a:avLst/>
          </a:prstGeom>
          <a:noFill/>
          <a:ln/>
        </p:spPr>
        <p:txBody>
          <a:bodyPr wrap="square" lIns="0" tIns="0" rIns="0" bIns="0" rtlCol="0" anchor="ctr"/>
          <a:lstStyle/>
          <a:p>
            <a:pPr marL="0" indent="0" algn="ctr">
              <a:buNone/>
            </a:pPr>
            <a:r>
              <a:rPr lang="en-US" sz="780" dirty="0">
                <a:solidFill>
                  <a:srgbClr val="232323"/>
                </a:solidFill>
                <a:latin typeface="Arial" pitchFamily="34" charset="0"/>
                <a:ea typeface="Arial" pitchFamily="34" charset="-122"/>
                <a:cs typeface="Arial" pitchFamily="34" charset="-120"/>
              </a:rPr>
              <a:t>Suppliers and third parties</a:t>
            </a:r>
            <a:endParaRPr lang="en-US" sz="780" dirty="0"/>
          </a:p>
        </p:txBody>
      </p:sp>
      <p:sp>
        <p:nvSpPr>
          <p:cNvPr id="109" name="Text 107"/>
          <p:cNvSpPr/>
          <p:nvPr/>
        </p:nvSpPr>
        <p:spPr>
          <a:xfrm>
            <a:off x="411480" y="6446520"/>
            <a:ext cx="11384280" cy="256032"/>
          </a:xfrm>
          <a:prstGeom prst="rect">
            <a:avLst/>
          </a:prstGeom>
          <a:noFill/>
          <a:ln/>
        </p:spPr>
        <p:txBody>
          <a:bodyPr wrap="square" lIns="0" tIns="0" rIns="0" bIns="0" rtlCol="0" anchor="ctr"/>
          <a:lstStyle/>
          <a:p>
            <a:pPr marL="0" indent="0">
              <a:buNone/>
            </a:pPr>
            <a:r>
              <a:rPr lang="en-US" sz="900" i="1" dirty="0">
                <a:solidFill>
                  <a:srgbClr val="A81B12"/>
                </a:solidFill>
                <a:latin typeface="Arial" pitchFamily="34" charset="0"/>
                <a:ea typeface="Arial" pitchFamily="34" charset="-122"/>
                <a:cs typeface="Arial" pitchFamily="34" charset="-120"/>
              </a:rPr>
              <a:t>Whatever the setting, legal and regulatory compliance, safeguarding, and the safety of staff and Fellows are always managed with full risk aversion.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B6037721155D4BBD1E4135D02FF6F9" ma:contentTypeVersion="19" ma:contentTypeDescription="Create a new document." ma:contentTypeScope="" ma:versionID="b781570d89b84dbdd580dee3cf9a8cb9">
  <xsd:schema xmlns:xsd="http://www.w3.org/2001/XMLSchema" xmlns:xs="http://www.w3.org/2001/XMLSchema" xmlns:p="http://schemas.microsoft.com/office/2006/metadata/properties" xmlns:ns2="c8804c7c-3a20-43cc-bc32-f52bf6727fd4" xmlns:ns3="cf2f66a4-dd9a-4d4e-b4d3-4b8a7ed183b9" targetNamespace="http://schemas.microsoft.com/office/2006/metadata/properties" ma:root="true" ma:fieldsID="b48f3e39fe8b84b54bc109661f9bf4a7" ns2:_="" ns3:_="">
    <xsd:import namespace="c8804c7c-3a20-43cc-bc32-f52bf6727fd4"/>
    <xsd:import namespace="cf2f66a4-dd9a-4d4e-b4d3-4b8a7ed183b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804c7c-3a20-43cc-bc32-f52bf6727f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c10a4dd-2fdb-481d-9549-a3fddd92d9d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2f66a4-dd9a-4d4e-b4d3-4b8a7ed183b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56d06fc-5d3e-4051-bc55-ac44340e79d2}" ma:internalName="TaxCatchAll" ma:showField="CatchAllData" ma:web="cf2f66a4-dd9a-4d4e-b4d3-4b8a7ed18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804c7c-3a20-43cc-bc32-f52bf6727fd4">
      <Terms xmlns="http://schemas.microsoft.com/office/infopath/2007/PartnerControls"/>
    </lcf76f155ced4ddcb4097134ff3c332f>
    <TaxCatchAll xmlns="cf2f66a4-dd9a-4d4e-b4d3-4b8a7ed183b9" xsi:nil="true"/>
  </documentManagement>
</p:properties>
</file>

<file path=customXml/itemProps1.xml><?xml version="1.0" encoding="utf-8"?>
<ds:datastoreItem xmlns:ds="http://schemas.openxmlformats.org/officeDocument/2006/customXml" ds:itemID="{CE1074F3-298E-4D34-9F82-FA0DC7AE8B16}">
  <ds:schemaRefs>
    <ds:schemaRef ds:uri="http://schemas.microsoft.com/office/2006/metadata/contentType"/>
    <ds:schemaRef ds:uri="http://schemas.microsoft.com/office/2006/metadata/properties/metaAttributes"/>
    <ds:schemaRef ds:uri="http://www.w3.org/2000/xmlns/"/>
    <ds:schemaRef ds:uri="http://www.w3.org/2001/XMLSchema"/>
    <ds:schemaRef ds:uri="c8804c7c-3a20-43cc-bc32-f52bf6727fd4"/>
    <ds:schemaRef ds:uri="cf2f66a4-dd9a-4d4e-b4d3-4b8a7ed183b9"/>
  </ds:schemaRefs>
</ds:datastoreItem>
</file>

<file path=customXml/itemProps2.xml><?xml version="1.0" encoding="utf-8"?>
<ds:datastoreItem xmlns:ds="http://schemas.openxmlformats.org/officeDocument/2006/customXml" ds:itemID="{51D705DA-B904-4E1C-9824-44A1C5CF73F1}">
  <ds:schemaRefs>
    <ds:schemaRef ds:uri="http://schemas.microsoft.com/sharepoint/v3/contenttype/forms"/>
  </ds:schemaRefs>
</ds:datastoreItem>
</file>

<file path=customXml/itemProps3.xml><?xml version="1.0" encoding="utf-8"?>
<ds:datastoreItem xmlns:ds="http://schemas.openxmlformats.org/officeDocument/2006/customXml" ds:itemID="{E6C4C92E-91C7-4FDE-8E8A-190C664F57ED}">
  <ds:schemaRefs>
    <ds:schemaRef ds:uri="http://schemas.microsoft.com/office/2006/metadata/properties"/>
    <ds:schemaRef ds:uri="http://www.w3.org/2000/xmlns/"/>
    <ds:schemaRef ds:uri="c8804c7c-3a20-43cc-bc32-f52bf6727fd4"/>
    <ds:schemaRef ds:uri="http://schemas.microsoft.com/office/infopath/2007/PartnerControls"/>
    <ds:schemaRef ds:uri="cf2f66a4-dd9a-4d4e-b4d3-4b8a7ed183b9"/>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otalTime>38</TotalTime>
  <Words>917</Words>
  <Application>Microsoft Office PowerPoint</Application>
  <PresentationFormat>Widescreen</PresentationFormat>
  <Paragraphs>143</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TCF Risk Taxonomy - DRAFT v3</dc:title>
  <dc:subject>PptxGenJS Presentation</dc:subject>
  <dc:creator>The Churchill Fellowship</dc:creator>
  <cp:lastModifiedBy>Jim Riddiford</cp:lastModifiedBy>
  <cp:revision>2</cp:revision>
  <dcterms:created xsi:type="dcterms:W3CDTF">2026-06-10T13:15:30Z</dcterms:created>
  <dcterms:modified xsi:type="dcterms:W3CDTF">2026-06-10T18:52:46Z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0x01010082B6037721155D4BBD1E4135D02FF6F9</vt:lpwstr>
  </property>
  <property fmtid="{D5CDD505-2E9C-101B-9397-08002B2CF9AE}" pid="3" name="MediaServiceImageTags">
    <vt:lpwstr/>
  </property>
</Properties>
</file>